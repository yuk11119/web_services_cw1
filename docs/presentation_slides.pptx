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4" r:id="rId12"/>
    <p:sldId id="265" r:id="rId13"/>
    <p:sldId id="266" r:id="rId14"/>
  </p:sldIdLst>
  <p:sldSz cx="12192000" cy="6858000"/>
  <p:notesSz cx="6858000" cy="12192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4610"/>
  </p:normalViewPr>
  <p:slideViewPr>
    <p:cSldViewPr snapToGrid="0" snapToObjects="1">
      <p:cViewPr varScale="1">
        <p:scale>
          <a:sx n="128" d="100"/>
          <a:sy n="128" d="100"/>
        </p:scale>
        <p:origin x="480"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7" Type="http://schemas.openxmlformats.org/officeDocument/2006/relationships/tableStyles" Target="tableStyles.xml"/><Relationship Id="rId16" Type="http://schemas.openxmlformats.org/officeDocument/2006/relationships/viewProps" Target="viewProps.xml"/><Relationship Id="rId15" Type="http://schemas.openxmlformats.org/officeDocument/2006/relationships/presProps" Target="presProps.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PTIST_MASTER">
    <p:bg>
      <p:bgPr>
        <a:solidFill>
          <a:srgbClr val="FFFFFF"/>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7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7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7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7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7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7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7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7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7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xml"/><Relationship Id="rId1" Type="http://schemas.openxmlformats.org/officeDocument/2006/relationships/image" Target="../media/image3.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xml"/><Relationship Id="rId1"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xml"/><Relationship Id="rId1" Type="http://schemas.openxmlformats.org/officeDocument/2006/relationships/image" Target="../media/image5.png"/></Relationships>
</file>

<file path=ppt/slides/_rels/slide10.xml.rels><?xml version="1.0" encoding="UTF-8" standalone="yes"?>
<Relationships xmlns="http://schemas.openxmlformats.org/package/2006/relationships"><Relationship Id="rId4" Type="http://schemas.openxmlformats.org/officeDocument/2006/relationships/notesSlide" Target="../notesSlides/notesSlide10.xml"/><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6.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https://kimi-img.moonshot.cn/pub/slides/slides_tmpl/image/25-09-02-14:36:34-d2r90she3tpg8rchuptg.png"/>
          <p:cNvPicPr>
            <a:picLocks noChangeAspect="1"/>
          </p:cNvPicPr>
          <p:nvPr/>
        </p:nvPicPr>
        <p:blipFill>
          <a:blip r:embed="rId1"/>
          <a:srcRect l="190" r="190"/>
          <a:stretch>
            <a:fillRect/>
          </a:stretch>
        </p:blipFill>
        <p:spPr>
          <a:xfrm>
            <a:off x="0" y="12700"/>
            <a:ext cx="12186920" cy="6855460"/>
          </a:xfrm>
          <a:prstGeom prst="rect">
            <a:avLst/>
          </a:prstGeom>
        </p:spPr>
      </p:pic>
      <p:sp>
        <p:nvSpPr>
          <p:cNvPr id="3" name="Text 0"/>
          <p:cNvSpPr/>
          <p:nvPr/>
        </p:nvSpPr>
        <p:spPr>
          <a:xfrm>
            <a:off x="737235" y="2097405"/>
            <a:ext cx="10830560" cy="821690"/>
          </a:xfrm>
          <a:prstGeom prst="rect">
            <a:avLst/>
          </a:prstGeom>
          <a:noFill/>
        </p:spPr>
        <p:txBody>
          <a:bodyPr wrap="square" lIns="91440" tIns="45720" rIns="91440" bIns="45720" rtlCol="0" anchor="t">
            <a:spAutoFit/>
          </a:bodyPr>
          <a:lstStyle/>
          <a:p>
            <a:pPr algn="ctr">
              <a:lnSpc>
                <a:spcPct val="100000"/>
              </a:lnSpc>
            </a:pPr>
            <a:r>
              <a:rPr lang="en-US" sz="4800" b="1" dirty="0">
                <a:solidFill>
                  <a:srgbClr val="000000"/>
                </a:solidFill>
                <a:latin typeface="MiSans" pitchFamily="34" charset="0"/>
                <a:ea typeface="MiSans" pitchFamily="34" charset="-122"/>
                <a:cs typeface="MiSans" pitchFamily="34" charset="-120"/>
              </a:rPr>
              <a:t>Book API: From Data to Insights</a:t>
            </a:r>
            <a:endParaRPr lang="en-US" sz="1600" dirty="0"/>
          </a:p>
        </p:txBody>
      </p:sp>
    </p:spTree>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38810" y="6362065"/>
            <a:ext cx="215900" cy="215900"/>
          </a:xfrm>
          <a:prstGeom prst="roundRect">
            <a:avLst>
              <a:gd name="adj" fmla="val 50000"/>
            </a:avLst>
          </a:prstGeom>
          <a:solidFill>
            <a:srgbClr val="000000"/>
          </a:solidFill>
        </p:spPr>
        <p:txBody>
          <a:bodyPr/>
          <a:lstStyle/>
          <a:p>
            <a:endParaRPr lang="zh-CN" altLang="en-US"/>
          </a:p>
        </p:txBody>
      </p:sp>
      <p:sp>
        <p:nvSpPr>
          <p:cNvPr id="3" name="Shape 1"/>
          <p:cNvSpPr/>
          <p:nvPr/>
        </p:nvSpPr>
        <p:spPr>
          <a:xfrm>
            <a:off x="765810" y="6362065"/>
            <a:ext cx="215900" cy="215900"/>
          </a:xfrm>
          <a:prstGeom prst="roundRect">
            <a:avLst>
              <a:gd name="adj" fmla="val 50000"/>
            </a:avLst>
          </a:prstGeom>
          <a:solidFill>
            <a:srgbClr val="000000">
              <a:alpha val="0"/>
            </a:srgbClr>
          </a:solidFill>
          <a:ln w="19050">
            <a:solidFill>
              <a:srgbClr val="000000"/>
            </a:solidFill>
            <a:prstDash val="solid"/>
          </a:ln>
        </p:spPr>
        <p:txBody>
          <a:bodyPr/>
          <a:lstStyle/>
          <a:p>
            <a:endParaRPr lang="zh-CN" altLang="en-US"/>
          </a:p>
        </p:txBody>
      </p:sp>
      <p:sp>
        <p:nvSpPr>
          <p:cNvPr id="4" name="Shape 2"/>
          <p:cNvSpPr/>
          <p:nvPr/>
        </p:nvSpPr>
        <p:spPr>
          <a:xfrm>
            <a:off x="1823009" y="1526844"/>
            <a:ext cx="3823246" cy="822960"/>
          </a:xfrm>
          <a:prstGeom prst="rect">
            <a:avLst/>
          </a:prstGeom>
          <a:solidFill>
            <a:srgbClr val="000000"/>
          </a:solidFill>
        </p:spPr>
        <p:txBody>
          <a:bodyPr/>
          <a:lstStyle/>
          <a:p>
            <a:endParaRPr lang="zh-CN" altLang="en-US"/>
          </a:p>
        </p:txBody>
      </p:sp>
      <p:sp>
        <p:nvSpPr>
          <p:cNvPr id="5" name="Shape 3"/>
          <p:cNvSpPr/>
          <p:nvPr/>
        </p:nvSpPr>
        <p:spPr>
          <a:xfrm>
            <a:off x="1823009" y="2399969"/>
            <a:ext cx="3822111" cy="3215005"/>
          </a:xfrm>
          <a:prstGeom prst="roundRect">
            <a:avLst>
              <a:gd name="adj" fmla="val 0"/>
            </a:avLst>
          </a:prstGeom>
          <a:solidFill>
            <a:srgbClr val="FFFFFF"/>
          </a:solidFill>
          <a:ln w="19050">
            <a:solidFill>
              <a:srgbClr val="000000"/>
            </a:solidFill>
            <a:prstDash val="solid"/>
          </a:ln>
        </p:spPr>
        <p:txBody>
          <a:bodyPr/>
          <a:lstStyle/>
          <a:p>
            <a:endParaRPr lang="zh-CN" altLang="en-US"/>
          </a:p>
        </p:txBody>
      </p:sp>
      <p:sp>
        <p:nvSpPr>
          <p:cNvPr id="6" name="Shape 4"/>
          <p:cNvSpPr/>
          <p:nvPr/>
        </p:nvSpPr>
        <p:spPr>
          <a:xfrm>
            <a:off x="6141555" y="1526844"/>
            <a:ext cx="3338396" cy="822960"/>
          </a:xfrm>
          <a:prstGeom prst="rect">
            <a:avLst/>
          </a:prstGeom>
          <a:solidFill>
            <a:srgbClr val="000000"/>
          </a:solidFill>
        </p:spPr>
        <p:txBody>
          <a:bodyPr/>
          <a:lstStyle/>
          <a:p>
            <a:endParaRPr lang="zh-CN" altLang="en-US"/>
          </a:p>
        </p:txBody>
      </p:sp>
      <p:sp>
        <p:nvSpPr>
          <p:cNvPr id="7" name="Shape 5"/>
          <p:cNvSpPr/>
          <p:nvPr/>
        </p:nvSpPr>
        <p:spPr>
          <a:xfrm>
            <a:off x="6142690" y="2399969"/>
            <a:ext cx="3337262" cy="3215005"/>
          </a:xfrm>
          <a:prstGeom prst="roundRect">
            <a:avLst>
              <a:gd name="adj" fmla="val 0"/>
            </a:avLst>
          </a:prstGeom>
          <a:solidFill>
            <a:srgbClr val="FFFFFF"/>
          </a:solidFill>
          <a:ln w="19050">
            <a:solidFill>
              <a:srgbClr val="000000"/>
            </a:solidFill>
            <a:prstDash val="solid"/>
          </a:ln>
        </p:spPr>
        <p:txBody>
          <a:bodyPr/>
          <a:lstStyle/>
          <a:p>
            <a:endParaRPr lang="zh-CN" altLang="en-US"/>
          </a:p>
        </p:txBody>
      </p:sp>
      <p:sp>
        <p:nvSpPr>
          <p:cNvPr id="9" name="Shape 6"/>
          <p:cNvSpPr/>
          <p:nvPr/>
        </p:nvSpPr>
        <p:spPr>
          <a:xfrm rot="5400000">
            <a:off x="467360" y="562610"/>
            <a:ext cx="330200" cy="330200"/>
          </a:xfrm>
          <a:prstGeom prst="triangle">
            <a:avLst>
              <a:gd name="adj" fmla="val 50000"/>
            </a:avLst>
          </a:prstGeom>
          <a:solidFill>
            <a:srgbClr val="BFBFBF"/>
          </a:solidFill>
        </p:spPr>
        <p:txBody>
          <a:bodyPr/>
          <a:lstStyle/>
          <a:p>
            <a:endParaRPr lang="zh-CN" altLang="en-US"/>
          </a:p>
        </p:txBody>
      </p:sp>
      <p:sp>
        <p:nvSpPr>
          <p:cNvPr id="10" name="Shape 7"/>
          <p:cNvSpPr/>
          <p:nvPr/>
        </p:nvSpPr>
        <p:spPr>
          <a:xfrm rot="5400000">
            <a:off x="594360" y="689610"/>
            <a:ext cx="330200" cy="330200"/>
          </a:xfrm>
          <a:prstGeom prst="triangle">
            <a:avLst>
              <a:gd name="adj" fmla="val 50000"/>
            </a:avLst>
          </a:prstGeom>
          <a:solidFill>
            <a:srgbClr val="000000"/>
          </a:solidFill>
        </p:spPr>
        <p:txBody>
          <a:bodyPr/>
          <a:lstStyle/>
          <a:p>
            <a:endParaRPr lang="zh-CN" altLang="en-US"/>
          </a:p>
        </p:txBody>
      </p:sp>
      <p:sp>
        <p:nvSpPr>
          <p:cNvPr id="11" name="Text 8"/>
          <p:cNvSpPr/>
          <p:nvPr/>
        </p:nvSpPr>
        <p:spPr>
          <a:xfrm>
            <a:off x="924560" y="497840"/>
            <a:ext cx="10782935" cy="516890"/>
          </a:xfrm>
          <a:prstGeom prst="rect">
            <a:avLst/>
          </a:prstGeom>
          <a:noFill/>
        </p:spPr>
        <p:txBody>
          <a:bodyPr wrap="square" lIns="91440" tIns="45720" rIns="91440" bIns="45720" rtlCol="0" anchor="t">
            <a:spAutoFit/>
          </a:bodyPr>
          <a:lstStyle/>
          <a:p>
            <a:pPr>
              <a:lnSpc>
                <a:spcPct val="100000"/>
              </a:lnSpc>
            </a:pPr>
            <a:r>
              <a:rPr lang="en-US" sz="2800" b="1" dirty="0">
                <a:solidFill>
                  <a:srgbClr val="000000"/>
                </a:solidFill>
                <a:latin typeface="MiSans" pitchFamily="34" charset="0"/>
                <a:ea typeface="MiSans" pitchFamily="34" charset="-122"/>
                <a:cs typeface="MiSans" pitchFamily="34" charset="-120"/>
              </a:rPr>
              <a:t>Building a Data-Driven Book API</a:t>
            </a:r>
            <a:endParaRPr lang="en-US" sz="1600" dirty="0"/>
          </a:p>
        </p:txBody>
      </p:sp>
      <p:sp>
        <p:nvSpPr>
          <p:cNvPr id="12" name="Text 9"/>
          <p:cNvSpPr/>
          <p:nvPr/>
        </p:nvSpPr>
        <p:spPr>
          <a:xfrm>
            <a:off x="2509137" y="1576374"/>
            <a:ext cx="3029822" cy="396240"/>
          </a:xfrm>
          <a:prstGeom prst="rect">
            <a:avLst/>
          </a:prstGeom>
          <a:noFill/>
        </p:spPr>
        <p:txBody>
          <a:bodyPr wrap="square" lIns="91440" tIns="45720" rIns="91440" bIns="45720" rtlCol="0" anchor="t">
            <a:spAutoFit/>
          </a:bodyPr>
          <a:lstStyle/>
          <a:p>
            <a:pPr>
              <a:lnSpc>
                <a:spcPct val="100000"/>
              </a:lnSpc>
            </a:pPr>
            <a:r>
              <a:rPr lang="en-US" sz="2000" b="1" dirty="0">
                <a:solidFill>
                  <a:srgbClr val="FFFFFF"/>
                </a:solidFill>
                <a:latin typeface="MiSans" pitchFamily="34" charset="0"/>
                <a:ea typeface="MiSans" pitchFamily="34" charset="-122"/>
                <a:cs typeface="MiSans" pitchFamily="34" charset="-120"/>
              </a:rPr>
              <a:t>Coursework Context</a:t>
            </a:r>
            <a:endParaRPr lang="en-US" sz="1600" dirty="0"/>
          </a:p>
        </p:txBody>
      </p:sp>
      <p:sp>
        <p:nvSpPr>
          <p:cNvPr id="13" name="Text 10"/>
          <p:cNvSpPr/>
          <p:nvPr/>
        </p:nvSpPr>
        <p:spPr>
          <a:xfrm>
            <a:off x="1960715" y="2399969"/>
            <a:ext cx="3582272" cy="2327910"/>
          </a:xfrm>
          <a:prstGeom prst="rect">
            <a:avLst/>
          </a:prstGeom>
          <a:noFill/>
        </p:spPr>
        <p:txBody>
          <a:bodyPr wrap="square" lIns="91440" tIns="45720" rIns="91440" bIns="45720" rtlCol="0" anchor="t"/>
          <a:lstStyle/>
          <a:p>
            <a:pPr>
              <a:lnSpc>
                <a:spcPct val="130000"/>
              </a:lnSpc>
            </a:pPr>
            <a:r>
              <a:rPr lang="en-US" sz="1400" dirty="0">
                <a:solidFill>
                  <a:srgbClr val="2B2F36"/>
                </a:solidFill>
                <a:latin typeface="MiSans" pitchFamily="34" charset="0"/>
                <a:ea typeface="MiSans" pitchFamily="34" charset="-122"/>
                <a:cs typeface="MiSans" pitchFamily="34" charset="-120"/>
              </a:rPr>
              <a:t>This project was developed for XJCO3011 as an individual coursework assignment requiring oral examination. The deliverable encompasses a secure, fully functional REST API with persistent data storage, comprehensive documentation, and verifiable test evidence demonstrating professional software engineering practices.</a:t>
            </a:r>
            <a:endParaRPr lang="en-US" sz="1600" dirty="0"/>
          </a:p>
        </p:txBody>
      </p:sp>
      <p:sp>
        <p:nvSpPr>
          <p:cNvPr id="14" name="Text 11"/>
          <p:cNvSpPr/>
          <p:nvPr/>
        </p:nvSpPr>
        <p:spPr>
          <a:xfrm>
            <a:off x="6192137" y="1576374"/>
            <a:ext cx="3029822" cy="396240"/>
          </a:xfrm>
          <a:prstGeom prst="rect">
            <a:avLst/>
          </a:prstGeom>
          <a:noFill/>
        </p:spPr>
        <p:txBody>
          <a:bodyPr wrap="square" lIns="91440" tIns="45720" rIns="91440" bIns="45720" rtlCol="0" anchor="t">
            <a:spAutoFit/>
          </a:bodyPr>
          <a:lstStyle/>
          <a:p>
            <a:pPr>
              <a:lnSpc>
                <a:spcPct val="100000"/>
              </a:lnSpc>
            </a:pPr>
            <a:r>
              <a:rPr lang="en-US" sz="2000" b="1" dirty="0">
                <a:solidFill>
                  <a:srgbClr val="FFFFFF"/>
                </a:solidFill>
                <a:latin typeface="MiSans" pitchFamily="34" charset="0"/>
                <a:ea typeface="MiSans" pitchFamily="34" charset="-122"/>
                <a:cs typeface="MiSans" pitchFamily="34" charset="-120"/>
              </a:rPr>
              <a:t>Core Deliverables</a:t>
            </a:r>
            <a:endParaRPr lang="en-US" sz="1600" dirty="0"/>
          </a:p>
        </p:txBody>
      </p:sp>
      <p:sp>
        <p:nvSpPr>
          <p:cNvPr id="15" name="Text 12"/>
          <p:cNvSpPr/>
          <p:nvPr/>
        </p:nvSpPr>
        <p:spPr>
          <a:xfrm>
            <a:off x="6245391" y="2567609"/>
            <a:ext cx="3164053" cy="2327910"/>
          </a:xfrm>
          <a:prstGeom prst="rect">
            <a:avLst/>
          </a:prstGeom>
          <a:noFill/>
        </p:spPr>
        <p:txBody>
          <a:bodyPr wrap="square" lIns="91440" tIns="45720" rIns="91440" bIns="45720" rtlCol="0" anchor="t"/>
          <a:lstStyle/>
          <a:p>
            <a:pPr>
              <a:lnSpc>
                <a:spcPct val="130000"/>
              </a:lnSpc>
            </a:pPr>
            <a:r>
              <a:rPr lang="en-US" sz="1400" dirty="0">
                <a:solidFill>
                  <a:srgbClr val="2B2F36"/>
                </a:solidFill>
                <a:latin typeface="MiSans" pitchFamily="34" charset="0"/>
                <a:ea typeface="MiSans" pitchFamily="34" charset="-122"/>
                <a:cs typeface="MiSans" pitchFamily="34" charset="-120"/>
              </a:rPr>
              <a:t>The final submission includes authenticated API endpoints with consistent JSON contracts, SQL database integration with migration support, technical documentation with OpenAPI specifications, and a complete test suite with coverage evidence. All artifacts are organized in a public GitHub repository with clear commit history.</a:t>
            </a:r>
            <a:endParaRPr lang="en-US" sz="1600" dirty="0"/>
          </a:p>
        </p:txBody>
      </p:sp>
    </p:spTree>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2196561" y="1648673"/>
            <a:ext cx="1459038" cy="1459038"/>
          </a:xfrm>
          <a:prstGeom prst="ellipse">
            <a:avLst/>
          </a:prstGeom>
          <a:solidFill>
            <a:srgbClr val="FFFFFF"/>
          </a:solidFill>
          <a:ln w="19050">
            <a:solidFill>
              <a:srgbClr val="2E536D"/>
            </a:solidFill>
            <a:prstDash val="solid"/>
          </a:ln>
        </p:spPr>
        <p:txBody>
          <a:bodyPr/>
          <a:lstStyle/>
          <a:p>
            <a:endParaRPr lang="zh-CN" altLang="en-US"/>
          </a:p>
        </p:txBody>
      </p:sp>
      <p:sp>
        <p:nvSpPr>
          <p:cNvPr id="3" name="Shape 1"/>
          <p:cNvSpPr/>
          <p:nvPr/>
        </p:nvSpPr>
        <p:spPr>
          <a:xfrm>
            <a:off x="2388111" y="1840223"/>
            <a:ext cx="1075939" cy="1075939"/>
          </a:xfrm>
          <a:prstGeom prst="ellipse">
            <a:avLst/>
          </a:prstGeom>
          <a:solidFill>
            <a:srgbClr val="000000"/>
          </a:solidFill>
        </p:spPr>
        <p:txBody>
          <a:bodyPr/>
          <a:lstStyle/>
          <a:p>
            <a:endParaRPr lang="zh-CN" altLang="en-US"/>
          </a:p>
        </p:txBody>
      </p:sp>
      <p:sp>
        <p:nvSpPr>
          <p:cNvPr id="4" name="Shape 2"/>
          <p:cNvSpPr/>
          <p:nvPr/>
        </p:nvSpPr>
        <p:spPr>
          <a:xfrm>
            <a:off x="5366481" y="1648673"/>
            <a:ext cx="1459038" cy="1459038"/>
          </a:xfrm>
          <a:prstGeom prst="ellipse">
            <a:avLst/>
          </a:prstGeom>
          <a:solidFill>
            <a:srgbClr val="FFFFFF"/>
          </a:solidFill>
          <a:ln w="19050">
            <a:solidFill>
              <a:srgbClr val="BFBFBF"/>
            </a:solidFill>
            <a:prstDash val="solid"/>
          </a:ln>
        </p:spPr>
        <p:txBody>
          <a:bodyPr/>
          <a:lstStyle/>
          <a:p>
            <a:endParaRPr lang="zh-CN" altLang="en-US"/>
          </a:p>
        </p:txBody>
      </p:sp>
      <p:sp>
        <p:nvSpPr>
          <p:cNvPr id="5" name="Shape 3"/>
          <p:cNvSpPr/>
          <p:nvPr/>
        </p:nvSpPr>
        <p:spPr>
          <a:xfrm>
            <a:off x="5558031" y="1840223"/>
            <a:ext cx="1075939" cy="1075939"/>
          </a:xfrm>
          <a:prstGeom prst="ellipse">
            <a:avLst/>
          </a:prstGeom>
          <a:solidFill>
            <a:srgbClr val="808080"/>
          </a:solidFill>
        </p:spPr>
        <p:txBody>
          <a:bodyPr/>
          <a:lstStyle/>
          <a:p>
            <a:endParaRPr lang="zh-CN" altLang="en-US"/>
          </a:p>
        </p:txBody>
      </p:sp>
      <p:sp>
        <p:nvSpPr>
          <p:cNvPr id="6" name="Shape 4"/>
          <p:cNvSpPr/>
          <p:nvPr/>
        </p:nvSpPr>
        <p:spPr>
          <a:xfrm>
            <a:off x="8536401" y="1648673"/>
            <a:ext cx="1459038" cy="1459038"/>
          </a:xfrm>
          <a:prstGeom prst="ellipse">
            <a:avLst/>
          </a:prstGeom>
          <a:solidFill>
            <a:srgbClr val="FFFFFF"/>
          </a:solidFill>
          <a:ln w="19050">
            <a:solidFill>
              <a:srgbClr val="2E536D"/>
            </a:solidFill>
            <a:prstDash val="solid"/>
          </a:ln>
        </p:spPr>
        <p:txBody>
          <a:bodyPr/>
          <a:lstStyle/>
          <a:p>
            <a:endParaRPr lang="zh-CN" altLang="en-US"/>
          </a:p>
        </p:txBody>
      </p:sp>
      <p:sp>
        <p:nvSpPr>
          <p:cNvPr id="7" name="Shape 5"/>
          <p:cNvSpPr/>
          <p:nvPr/>
        </p:nvSpPr>
        <p:spPr>
          <a:xfrm>
            <a:off x="8727951" y="1840223"/>
            <a:ext cx="1075939" cy="1075939"/>
          </a:xfrm>
          <a:prstGeom prst="ellipse">
            <a:avLst/>
          </a:prstGeom>
          <a:solidFill>
            <a:srgbClr val="000000"/>
          </a:solidFill>
        </p:spPr>
        <p:txBody>
          <a:bodyPr/>
          <a:lstStyle/>
          <a:p>
            <a:endParaRPr lang="zh-CN" altLang="en-US"/>
          </a:p>
        </p:txBody>
      </p:sp>
      <p:sp>
        <p:nvSpPr>
          <p:cNvPr id="8" name="Shape 6"/>
          <p:cNvSpPr/>
          <p:nvPr/>
        </p:nvSpPr>
        <p:spPr>
          <a:xfrm>
            <a:off x="422910" y="6374130"/>
            <a:ext cx="215900" cy="215900"/>
          </a:xfrm>
          <a:prstGeom prst="roundRect">
            <a:avLst>
              <a:gd name="adj" fmla="val 50000"/>
            </a:avLst>
          </a:prstGeom>
          <a:solidFill>
            <a:srgbClr val="000000"/>
          </a:solidFill>
        </p:spPr>
        <p:txBody>
          <a:bodyPr/>
          <a:lstStyle/>
          <a:p>
            <a:endParaRPr lang="zh-CN" altLang="en-US"/>
          </a:p>
        </p:txBody>
      </p:sp>
      <p:sp>
        <p:nvSpPr>
          <p:cNvPr id="9" name="Shape 7"/>
          <p:cNvSpPr/>
          <p:nvPr/>
        </p:nvSpPr>
        <p:spPr>
          <a:xfrm>
            <a:off x="549910" y="6374130"/>
            <a:ext cx="215900" cy="215900"/>
          </a:xfrm>
          <a:prstGeom prst="roundRect">
            <a:avLst>
              <a:gd name="adj" fmla="val 50000"/>
            </a:avLst>
          </a:prstGeom>
          <a:solidFill>
            <a:srgbClr val="000000">
              <a:alpha val="0"/>
            </a:srgbClr>
          </a:solidFill>
          <a:ln w="19050">
            <a:solidFill>
              <a:srgbClr val="000000"/>
            </a:solidFill>
            <a:prstDash val="solid"/>
          </a:ln>
        </p:spPr>
        <p:txBody>
          <a:bodyPr/>
          <a:lstStyle/>
          <a:p>
            <a:endParaRPr lang="zh-CN" altLang="en-US"/>
          </a:p>
        </p:txBody>
      </p:sp>
      <p:sp>
        <p:nvSpPr>
          <p:cNvPr id="10" name="Shape 8"/>
          <p:cNvSpPr/>
          <p:nvPr/>
        </p:nvSpPr>
        <p:spPr>
          <a:xfrm rot="5400000">
            <a:off x="467360" y="562610"/>
            <a:ext cx="330200" cy="330200"/>
          </a:xfrm>
          <a:prstGeom prst="triangle">
            <a:avLst>
              <a:gd name="adj" fmla="val 50000"/>
            </a:avLst>
          </a:prstGeom>
          <a:solidFill>
            <a:srgbClr val="BFBFBF"/>
          </a:solidFill>
        </p:spPr>
        <p:txBody>
          <a:bodyPr/>
          <a:lstStyle/>
          <a:p>
            <a:endParaRPr lang="zh-CN" altLang="en-US"/>
          </a:p>
        </p:txBody>
      </p:sp>
      <p:sp>
        <p:nvSpPr>
          <p:cNvPr id="11" name="Shape 9"/>
          <p:cNvSpPr/>
          <p:nvPr/>
        </p:nvSpPr>
        <p:spPr>
          <a:xfrm rot="5400000">
            <a:off x="594360" y="689610"/>
            <a:ext cx="330200" cy="330200"/>
          </a:xfrm>
          <a:prstGeom prst="triangle">
            <a:avLst>
              <a:gd name="adj" fmla="val 50000"/>
            </a:avLst>
          </a:prstGeom>
          <a:solidFill>
            <a:srgbClr val="000000"/>
          </a:solidFill>
        </p:spPr>
        <p:txBody>
          <a:bodyPr/>
          <a:lstStyle/>
          <a:p>
            <a:endParaRPr lang="zh-CN" altLang="en-US"/>
          </a:p>
        </p:txBody>
      </p:sp>
      <p:sp>
        <p:nvSpPr>
          <p:cNvPr id="12" name="Text 10"/>
          <p:cNvSpPr/>
          <p:nvPr/>
        </p:nvSpPr>
        <p:spPr>
          <a:xfrm>
            <a:off x="924560" y="497840"/>
            <a:ext cx="10782935" cy="516890"/>
          </a:xfrm>
          <a:prstGeom prst="rect">
            <a:avLst/>
          </a:prstGeom>
          <a:noFill/>
        </p:spPr>
        <p:txBody>
          <a:bodyPr wrap="square" lIns="91440" tIns="45720" rIns="91440" bIns="45720" rtlCol="0" anchor="t">
            <a:spAutoFit/>
          </a:bodyPr>
          <a:lstStyle/>
          <a:p>
            <a:pPr algn="just">
              <a:lnSpc>
                <a:spcPct val="100000"/>
              </a:lnSpc>
            </a:pPr>
            <a:r>
              <a:rPr lang="en-US" sz="2800" b="1" dirty="0">
                <a:solidFill>
                  <a:srgbClr val="000000"/>
                </a:solidFill>
                <a:latin typeface="MiSans" pitchFamily="34" charset="0"/>
                <a:ea typeface="MiSans" pitchFamily="34" charset="-122"/>
                <a:cs typeface="MiSans" pitchFamily="34" charset="-120"/>
              </a:rPr>
              <a:t>Problem Scope and Core Objectives</a:t>
            </a:r>
            <a:endParaRPr lang="en-US" sz="1600" dirty="0"/>
          </a:p>
        </p:txBody>
      </p:sp>
      <p:sp>
        <p:nvSpPr>
          <p:cNvPr id="13" name="Shape 11"/>
          <p:cNvSpPr/>
          <p:nvPr/>
        </p:nvSpPr>
        <p:spPr>
          <a:xfrm>
            <a:off x="2552868" y="2082379"/>
            <a:ext cx="726482" cy="584775"/>
          </a:xfrm>
          <a:prstGeom prst="rect">
            <a:avLst/>
          </a:prstGeom>
          <a:solidFill>
            <a:srgbClr val="000000">
              <a:alpha val="0"/>
            </a:srgbClr>
          </a:solidFill>
        </p:spPr>
        <p:txBody>
          <a:bodyPr/>
          <a:lstStyle/>
          <a:p>
            <a:endParaRPr lang="zh-CN" altLang="en-US"/>
          </a:p>
        </p:txBody>
      </p:sp>
      <p:sp>
        <p:nvSpPr>
          <p:cNvPr id="14" name="Text 12"/>
          <p:cNvSpPr/>
          <p:nvPr/>
        </p:nvSpPr>
        <p:spPr>
          <a:xfrm>
            <a:off x="2552868" y="2082379"/>
            <a:ext cx="726482" cy="584775"/>
          </a:xfrm>
          <a:prstGeom prst="rect">
            <a:avLst/>
          </a:prstGeom>
          <a:noFill/>
        </p:spPr>
        <p:txBody>
          <a:bodyPr wrap="square" lIns="45720" tIns="91440" rIns="91440" bIns="45720" rtlCol="0" anchor="t"/>
          <a:lstStyle/>
          <a:p>
            <a:pPr algn="ctr">
              <a:lnSpc>
                <a:spcPct val="100000"/>
              </a:lnSpc>
            </a:pPr>
            <a:r>
              <a:rPr lang="en-US" sz="3200" b="1" dirty="0">
                <a:solidFill>
                  <a:srgbClr val="FFFFFF"/>
                </a:solidFill>
                <a:latin typeface="MiSans" pitchFamily="34" charset="0"/>
                <a:ea typeface="MiSans" pitchFamily="34" charset="-122"/>
                <a:cs typeface="MiSans" pitchFamily="34" charset="-120"/>
              </a:rPr>
              <a:t>01</a:t>
            </a:r>
            <a:endParaRPr lang="en-US" sz="1600" dirty="0"/>
          </a:p>
        </p:txBody>
      </p:sp>
      <p:sp>
        <p:nvSpPr>
          <p:cNvPr id="15" name="Text 13"/>
          <p:cNvSpPr/>
          <p:nvPr/>
        </p:nvSpPr>
        <p:spPr>
          <a:xfrm>
            <a:off x="1376045" y="3211747"/>
            <a:ext cx="3100705" cy="277241"/>
          </a:xfrm>
          <a:prstGeom prst="rect">
            <a:avLst/>
          </a:prstGeom>
          <a:noFill/>
        </p:spPr>
        <p:txBody>
          <a:bodyPr wrap="square" lIns="0" tIns="0" rIns="0" bIns="35941" rtlCol="0" anchor="b">
            <a:spAutoFit/>
          </a:bodyPr>
          <a:lstStyle/>
          <a:p>
            <a:pPr algn="just">
              <a:lnSpc>
                <a:spcPct val="100000"/>
              </a:lnSpc>
            </a:pPr>
            <a:r>
              <a:rPr lang="en-US" sz="1600" b="1" dirty="0">
                <a:solidFill>
                  <a:srgbClr val="000000"/>
                </a:solidFill>
                <a:latin typeface="MiSans" pitchFamily="34" charset="0"/>
                <a:ea typeface="MiSans" pitchFamily="34" charset="-122"/>
                <a:cs typeface="MiSans" pitchFamily="34" charset="-120"/>
              </a:rPr>
              <a:t>Domain Definition</a:t>
            </a:r>
            <a:endParaRPr lang="en-US" sz="1600" dirty="0"/>
          </a:p>
        </p:txBody>
      </p:sp>
      <p:sp>
        <p:nvSpPr>
          <p:cNvPr id="16" name="Text 14"/>
          <p:cNvSpPr/>
          <p:nvPr/>
        </p:nvSpPr>
        <p:spPr>
          <a:xfrm>
            <a:off x="1376045" y="3569887"/>
            <a:ext cx="2872740" cy="2105025"/>
          </a:xfrm>
          <a:prstGeom prst="rect">
            <a:avLst/>
          </a:prstGeom>
          <a:noFill/>
        </p:spPr>
        <p:txBody>
          <a:bodyPr wrap="square" lIns="0" tIns="0" rIns="0" bIns="0" rtlCol="0" anchor="t">
            <a:spAutoFit/>
          </a:bodyPr>
          <a:lstStyle/>
          <a:p>
            <a:pPr>
              <a:lnSpc>
                <a:spcPct val="130000"/>
              </a:lnSpc>
            </a:pPr>
            <a:r>
              <a:rPr lang="en-US" sz="1200" dirty="0">
                <a:solidFill>
                  <a:srgbClr val="2B2F36"/>
                </a:solidFill>
                <a:latin typeface="MiSans" pitchFamily="34" charset="0"/>
                <a:ea typeface="MiSans" pitchFamily="34" charset="-122"/>
                <a:cs typeface="MiSans" pitchFamily="34" charset="-120"/>
              </a:rPr>
              <a:t>The system addresses book metadata management within a structured domain covering authors, publications, and user-generated reviews. This domain requires careful handling of relationships between creators, works, and audience feedback while maintaining data integrity across all entities.</a:t>
            </a:r>
            <a:endParaRPr lang="en-US" sz="1600" dirty="0"/>
          </a:p>
        </p:txBody>
      </p:sp>
      <p:sp>
        <p:nvSpPr>
          <p:cNvPr id="17" name="Shape 15"/>
          <p:cNvSpPr/>
          <p:nvPr/>
        </p:nvSpPr>
        <p:spPr>
          <a:xfrm>
            <a:off x="5722788" y="2082379"/>
            <a:ext cx="726482" cy="584775"/>
          </a:xfrm>
          <a:prstGeom prst="rect">
            <a:avLst/>
          </a:prstGeom>
          <a:solidFill>
            <a:srgbClr val="000000">
              <a:alpha val="0"/>
            </a:srgbClr>
          </a:solidFill>
        </p:spPr>
        <p:txBody>
          <a:bodyPr/>
          <a:lstStyle/>
          <a:p>
            <a:endParaRPr lang="zh-CN" altLang="en-US"/>
          </a:p>
        </p:txBody>
      </p:sp>
      <p:sp>
        <p:nvSpPr>
          <p:cNvPr id="18" name="Text 16"/>
          <p:cNvSpPr/>
          <p:nvPr/>
        </p:nvSpPr>
        <p:spPr>
          <a:xfrm>
            <a:off x="5722788" y="2082379"/>
            <a:ext cx="726482" cy="584775"/>
          </a:xfrm>
          <a:prstGeom prst="rect">
            <a:avLst/>
          </a:prstGeom>
          <a:noFill/>
        </p:spPr>
        <p:txBody>
          <a:bodyPr wrap="square" lIns="45720" tIns="91440" rIns="91440" bIns="45720" rtlCol="0" anchor="t"/>
          <a:lstStyle/>
          <a:p>
            <a:pPr algn="ctr">
              <a:lnSpc>
                <a:spcPct val="100000"/>
              </a:lnSpc>
            </a:pPr>
            <a:r>
              <a:rPr lang="en-US" sz="3200" b="1" dirty="0">
                <a:solidFill>
                  <a:srgbClr val="FFFFFF"/>
                </a:solidFill>
                <a:latin typeface="MiSans" pitchFamily="34" charset="0"/>
                <a:ea typeface="MiSans" pitchFamily="34" charset="-122"/>
                <a:cs typeface="MiSans" pitchFamily="34" charset="-120"/>
              </a:rPr>
              <a:t>02</a:t>
            </a:r>
            <a:endParaRPr lang="en-US" sz="1600" dirty="0"/>
          </a:p>
        </p:txBody>
      </p:sp>
      <p:sp>
        <p:nvSpPr>
          <p:cNvPr id="19" name="Text 17"/>
          <p:cNvSpPr/>
          <p:nvPr/>
        </p:nvSpPr>
        <p:spPr>
          <a:xfrm>
            <a:off x="4708525" y="3211747"/>
            <a:ext cx="3100705" cy="277241"/>
          </a:xfrm>
          <a:prstGeom prst="rect">
            <a:avLst/>
          </a:prstGeom>
          <a:noFill/>
        </p:spPr>
        <p:txBody>
          <a:bodyPr wrap="square" lIns="0" tIns="0" rIns="0" bIns="35941" rtlCol="0" anchor="b">
            <a:spAutoFit/>
          </a:bodyPr>
          <a:lstStyle/>
          <a:p>
            <a:pPr algn="just">
              <a:lnSpc>
                <a:spcPct val="100000"/>
              </a:lnSpc>
            </a:pPr>
            <a:r>
              <a:rPr lang="en-US" sz="1600" b="1" dirty="0">
                <a:solidFill>
                  <a:srgbClr val="000000"/>
                </a:solidFill>
                <a:latin typeface="MiSans" pitchFamily="34" charset="0"/>
                <a:ea typeface="MiSans" pitchFamily="34" charset="-122"/>
                <a:cs typeface="MiSans" pitchFamily="34" charset="-120"/>
              </a:rPr>
              <a:t>Functional Requirements</a:t>
            </a:r>
            <a:endParaRPr lang="en-US" sz="1600" dirty="0"/>
          </a:p>
        </p:txBody>
      </p:sp>
      <p:sp>
        <p:nvSpPr>
          <p:cNvPr id="20" name="Text 18"/>
          <p:cNvSpPr/>
          <p:nvPr/>
        </p:nvSpPr>
        <p:spPr>
          <a:xfrm>
            <a:off x="4708525" y="3569887"/>
            <a:ext cx="2872740" cy="2368153"/>
          </a:xfrm>
          <a:prstGeom prst="rect">
            <a:avLst/>
          </a:prstGeom>
          <a:noFill/>
        </p:spPr>
        <p:txBody>
          <a:bodyPr wrap="square" lIns="0" tIns="0" rIns="0" bIns="0" rtlCol="0" anchor="t">
            <a:spAutoFit/>
          </a:bodyPr>
          <a:lstStyle/>
          <a:p>
            <a:pPr>
              <a:lnSpc>
                <a:spcPct val="130000"/>
              </a:lnSpc>
            </a:pPr>
            <a:r>
              <a:rPr lang="en-US" sz="1200" dirty="0">
                <a:solidFill>
                  <a:srgbClr val="2B2F36"/>
                </a:solidFill>
                <a:latin typeface="MiSans" pitchFamily="34" charset="0"/>
                <a:ea typeface="MiSans" pitchFamily="34" charset="-122"/>
                <a:cs typeface="MiSans" pitchFamily="34" charset="-120"/>
              </a:rPr>
              <a:t>Core objectives include implementing complete CRUD operations for all domain entities, providing filtered query capabilities for books and reviews, generating analytical insights from collected data, and delivering personalized recommendations based on user behavior patterns and preferences.</a:t>
            </a:r>
            <a:endParaRPr lang="en-US" sz="1600" dirty="0"/>
          </a:p>
        </p:txBody>
      </p:sp>
      <p:sp>
        <p:nvSpPr>
          <p:cNvPr id="21" name="Shape 19"/>
          <p:cNvSpPr/>
          <p:nvPr/>
        </p:nvSpPr>
        <p:spPr>
          <a:xfrm>
            <a:off x="8912650" y="2082379"/>
            <a:ext cx="726482" cy="584775"/>
          </a:xfrm>
          <a:prstGeom prst="rect">
            <a:avLst/>
          </a:prstGeom>
          <a:solidFill>
            <a:srgbClr val="000000">
              <a:alpha val="0"/>
            </a:srgbClr>
          </a:solidFill>
        </p:spPr>
        <p:txBody>
          <a:bodyPr/>
          <a:lstStyle/>
          <a:p>
            <a:endParaRPr lang="zh-CN" altLang="en-US"/>
          </a:p>
        </p:txBody>
      </p:sp>
      <p:sp>
        <p:nvSpPr>
          <p:cNvPr id="22" name="Text 20"/>
          <p:cNvSpPr/>
          <p:nvPr/>
        </p:nvSpPr>
        <p:spPr>
          <a:xfrm>
            <a:off x="8912650" y="2082379"/>
            <a:ext cx="726482" cy="584775"/>
          </a:xfrm>
          <a:prstGeom prst="rect">
            <a:avLst/>
          </a:prstGeom>
          <a:noFill/>
        </p:spPr>
        <p:txBody>
          <a:bodyPr wrap="square" lIns="45720" tIns="91440" rIns="91440" bIns="45720" rtlCol="0" anchor="t"/>
          <a:lstStyle/>
          <a:p>
            <a:pPr algn="ctr">
              <a:lnSpc>
                <a:spcPct val="100000"/>
              </a:lnSpc>
            </a:pPr>
            <a:r>
              <a:rPr lang="en-US" sz="3200" b="1" dirty="0">
                <a:solidFill>
                  <a:srgbClr val="FFFFFF"/>
                </a:solidFill>
                <a:latin typeface="MiSans" pitchFamily="34" charset="0"/>
                <a:ea typeface="MiSans" pitchFamily="34" charset="-122"/>
                <a:cs typeface="MiSans" pitchFamily="34" charset="-120"/>
              </a:rPr>
              <a:t>03</a:t>
            </a:r>
            <a:endParaRPr lang="en-US" sz="1600" dirty="0"/>
          </a:p>
        </p:txBody>
      </p:sp>
      <p:sp>
        <p:nvSpPr>
          <p:cNvPr id="23" name="Text 21"/>
          <p:cNvSpPr/>
          <p:nvPr/>
        </p:nvSpPr>
        <p:spPr>
          <a:xfrm>
            <a:off x="8229600" y="3211747"/>
            <a:ext cx="3100705" cy="277241"/>
          </a:xfrm>
          <a:prstGeom prst="rect">
            <a:avLst/>
          </a:prstGeom>
          <a:noFill/>
        </p:spPr>
        <p:txBody>
          <a:bodyPr wrap="square" lIns="0" tIns="0" rIns="0" bIns="35941" rtlCol="0" anchor="b">
            <a:spAutoFit/>
          </a:bodyPr>
          <a:lstStyle/>
          <a:p>
            <a:pPr algn="just">
              <a:lnSpc>
                <a:spcPct val="100000"/>
              </a:lnSpc>
            </a:pPr>
            <a:r>
              <a:rPr lang="en-US" sz="1600" b="1" dirty="0">
                <a:solidFill>
                  <a:srgbClr val="000000"/>
                </a:solidFill>
                <a:latin typeface="MiSans" pitchFamily="34" charset="0"/>
                <a:ea typeface="MiSans" pitchFamily="34" charset="-122"/>
                <a:cs typeface="MiSans" pitchFamily="34" charset="-120"/>
              </a:rPr>
              <a:t>Non-Functional Goals</a:t>
            </a:r>
            <a:endParaRPr lang="en-US" sz="1600" dirty="0"/>
          </a:p>
        </p:txBody>
      </p:sp>
      <p:sp>
        <p:nvSpPr>
          <p:cNvPr id="24" name="Text 22"/>
          <p:cNvSpPr/>
          <p:nvPr/>
        </p:nvSpPr>
        <p:spPr>
          <a:xfrm>
            <a:off x="8229600" y="3569887"/>
            <a:ext cx="2872740" cy="2105025"/>
          </a:xfrm>
          <a:prstGeom prst="rect">
            <a:avLst/>
          </a:prstGeom>
          <a:noFill/>
        </p:spPr>
        <p:txBody>
          <a:bodyPr wrap="square" lIns="0" tIns="0" rIns="0" bIns="0" rtlCol="0" anchor="t">
            <a:spAutoFit/>
          </a:bodyPr>
          <a:lstStyle/>
          <a:p>
            <a:pPr>
              <a:lnSpc>
                <a:spcPct val="130000"/>
              </a:lnSpc>
            </a:pPr>
            <a:r>
              <a:rPr lang="en-US" sz="1200" dirty="0">
                <a:solidFill>
                  <a:srgbClr val="2B2F36"/>
                </a:solidFill>
                <a:latin typeface="MiSans" pitchFamily="34" charset="0"/>
                <a:ea typeface="MiSans" pitchFamily="34" charset="-122"/>
                <a:cs typeface="MiSans" pitchFamily="34" charset="-120"/>
              </a:rPr>
              <a:t>The system prioritizes security through JWT-based access control, consistency via standardized API response envelopes, maintainability through layered architecture, and reliability demonstrated through comprehensive integration testing with documented evidence.</a:t>
            </a:r>
            <a:endParaRPr lang="en-US" sz="1600" dirty="0"/>
          </a:p>
        </p:txBody>
      </p:sp>
    </p:spTree>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flipH="1">
            <a:off x="-1" y="1464310"/>
            <a:ext cx="12192635" cy="1427977"/>
          </a:xfrm>
          <a:prstGeom prst="rect">
            <a:avLst/>
          </a:prstGeom>
          <a:solidFill>
            <a:srgbClr val="000000"/>
          </a:solidFill>
        </p:spPr>
        <p:txBody>
          <a:bodyPr/>
          <a:lstStyle/>
          <a:p>
            <a:endParaRPr lang="zh-CN" altLang="en-US"/>
          </a:p>
        </p:txBody>
      </p:sp>
      <p:sp>
        <p:nvSpPr>
          <p:cNvPr id="3" name="Shape 1"/>
          <p:cNvSpPr/>
          <p:nvPr/>
        </p:nvSpPr>
        <p:spPr>
          <a:xfrm rot="5400000">
            <a:off x="467360" y="562610"/>
            <a:ext cx="330200" cy="330200"/>
          </a:xfrm>
          <a:prstGeom prst="triangle">
            <a:avLst>
              <a:gd name="adj" fmla="val 50000"/>
            </a:avLst>
          </a:prstGeom>
          <a:solidFill>
            <a:srgbClr val="BFBFBF"/>
          </a:solidFill>
        </p:spPr>
        <p:txBody>
          <a:bodyPr/>
          <a:lstStyle/>
          <a:p>
            <a:endParaRPr lang="zh-CN" altLang="en-US"/>
          </a:p>
        </p:txBody>
      </p:sp>
      <p:sp>
        <p:nvSpPr>
          <p:cNvPr id="4" name="Shape 2"/>
          <p:cNvSpPr/>
          <p:nvPr/>
        </p:nvSpPr>
        <p:spPr>
          <a:xfrm rot="5400000">
            <a:off x="594360" y="689610"/>
            <a:ext cx="330200" cy="330200"/>
          </a:xfrm>
          <a:prstGeom prst="triangle">
            <a:avLst>
              <a:gd name="adj" fmla="val 50000"/>
            </a:avLst>
          </a:prstGeom>
          <a:solidFill>
            <a:srgbClr val="000000"/>
          </a:solidFill>
        </p:spPr>
        <p:txBody>
          <a:bodyPr/>
          <a:lstStyle/>
          <a:p>
            <a:endParaRPr lang="zh-CN" altLang="en-US"/>
          </a:p>
        </p:txBody>
      </p:sp>
      <p:sp>
        <p:nvSpPr>
          <p:cNvPr id="5" name="Text 3"/>
          <p:cNvSpPr/>
          <p:nvPr/>
        </p:nvSpPr>
        <p:spPr>
          <a:xfrm>
            <a:off x="924560" y="497840"/>
            <a:ext cx="10782935" cy="516890"/>
          </a:xfrm>
          <a:prstGeom prst="rect">
            <a:avLst/>
          </a:prstGeom>
          <a:noFill/>
        </p:spPr>
        <p:txBody>
          <a:bodyPr wrap="square" lIns="91440" tIns="45720" rIns="91440" bIns="45720" rtlCol="0" anchor="t">
            <a:spAutoFit/>
          </a:bodyPr>
          <a:lstStyle/>
          <a:p>
            <a:pPr algn="just">
              <a:lnSpc>
                <a:spcPct val="100000"/>
              </a:lnSpc>
            </a:pPr>
            <a:r>
              <a:rPr lang="en-US" sz="2800" b="1" dirty="0">
                <a:solidFill>
                  <a:srgbClr val="000000"/>
                </a:solidFill>
                <a:latin typeface="MiSans" pitchFamily="34" charset="0"/>
                <a:ea typeface="MiSans" pitchFamily="34" charset="-122"/>
                <a:cs typeface="MiSans" pitchFamily="34" charset="-120"/>
              </a:rPr>
              <a:t>Technology Stack Selection Rationale</a:t>
            </a:r>
            <a:endParaRPr lang="en-US" sz="1600" dirty="0"/>
          </a:p>
        </p:txBody>
      </p:sp>
      <p:sp>
        <p:nvSpPr>
          <p:cNvPr id="6" name="Text 4"/>
          <p:cNvSpPr/>
          <p:nvPr/>
        </p:nvSpPr>
        <p:spPr>
          <a:xfrm>
            <a:off x="589280" y="1581785"/>
            <a:ext cx="8511540" cy="459740"/>
          </a:xfrm>
          <a:prstGeom prst="rect">
            <a:avLst/>
          </a:prstGeom>
          <a:solidFill>
            <a:srgbClr val="000000"/>
          </a:solidFill>
        </p:spPr>
        <p:txBody>
          <a:bodyPr wrap="square" lIns="91440" tIns="45720" rIns="91440" bIns="45720" rtlCol="0" anchor="t">
            <a:spAutoFit/>
          </a:bodyPr>
          <a:lstStyle/>
          <a:p>
            <a:pPr>
              <a:lnSpc>
                <a:spcPct val="100000"/>
              </a:lnSpc>
            </a:pPr>
            <a:r>
              <a:rPr lang="en-US" sz="2400" b="1" dirty="0">
                <a:solidFill>
                  <a:srgbClr val="FFFFFF"/>
                </a:solidFill>
                <a:latin typeface="MiSans" pitchFamily="34" charset="0"/>
                <a:ea typeface="MiSans" pitchFamily="34" charset="-122"/>
                <a:cs typeface="MiSans" pitchFamily="34" charset="-120"/>
              </a:rPr>
              <a:t>FastAPI Framework</a:t>
            </a:r>
            <a:endParaRPr lang="en-US" sz="1600" dirty="0"/>
          </a:p>
        </p:txBody>
      </p:sp>
      <p:sp>
        <p:nvSpPr>
          <p:cNvPr id="7" name="Text 5"/>
          <p:cNvSpPr/>
          <p:nvPr/>
        </p:nvSpPr>
        <p:spPr>
          <a:xfrm>
            <a:off x="589280" y="1957705"/>
            <a:ext cx="8907780" cy="1060450"/>
          </a:xfrm>
          <a:prstGeom prst="rect">
            <a:avLst/>
          </a:prstGeom>
          <a:noFill/>
        </p:spPr>
        <p:txBody>
          <a:bodyPr wrap="square" lIns="91440" tIns="45720" rIns="91440" bIns="45720" rtlCol="0" anchor="t"/>
          <a:lstStyle/>
          <a:p>
            <a:pPr>
              <a:lnSpc>
                <a:spcPct val="140000"/>
              </a:lnSpc>
            </a:pPr>
            <a:r>
              <a:rPr lang="en-US" sz="1400" dirty="0" err="1">
                <a:solidFill>
                  <a:srgbClr val="FFFFFF"/>
                </a:solidFill>
                <a:latin typeface="MiSans" pitchFamily="34" charset="0"/>
                <a:ea typeface="MiSans" pitchFamily="34" charset="-122"/>
                <a:cs typeface="MiSans" pitchFamily="34" charset="-120"/>
              </a:rPr>
              <a:t>FastAPI</a:t>
            </a:r>
            <a:r>
              <a:rPr lang="en-US" sz="1400" dirty="0">
                <a:solidFill>
                  <a:srgbClr val="FFFFFF"/>
                </a:solidFill>
                <a:latin typeface="MiSans" pitchFamily="34" charset="0"/>
                <a:ea typeface="MiSans" pitchFamily="34" charset="-122"/>
                <a:cs typeface="MiSans" pitchFamily="34" charset="-120"/>
              </a:rPr>
              <a:t> was chosen for rapid API development, built-in interactive docs, and strong type-based validation.</a:t>
            </a:r>
            <a:endParaRPr lang="en-US" sz="1400" dirty="0">
              <a:solidFill>
                <a:srgbClr val="FFFFFF"/>
              </a:solidFill>
              <a:latin typeface="MiSans" pitchFamily="34" charset="0"/>
              <a:ea typeface="MiSans" pitchFamily="34" charset="-122"/>
              <a:cs typeface="MiSans" pitchFamily="34" charset="-120"/>
            </a:endParaRPr>
          </a:p>
        </p:txBody>
      </p:sp>
      <p:sp>
        <p:nvSpPr>
          <p:cNvPr id="8" name="Text 6"/>
          <p:cNvSpPr/>
          <p:nvPr/>
        </p:nvSpPr>
        <p:spPr>
          <a:xfrm>
            <a:off x="1593850" y="3345180"/>
            <a:ext cx="3004820" cy="332740"/>
          </a:xfrm>
          <a:prstGeom prst="rect">
            <a:avLst/>
          </a:prstGeom>
          <a:solidFill>
            <a:srgbClr val="FFFFFF">
              <a:alpha val="0"/>
            </a:srgbClr>
          </a:solidFill>
        </p:spPr>
        <p:txBody>
          <a:bodyPr wrap="square" lIns="91440" tIns="45720" rIns="91440" bIns="45720" rtlCol="0" anchor="t">
            <a:spAutoFit/>
          </a:bodyPr>
          <a:lstStyle/>
          <a:p>
            <a:pPr>
              <a:lnSpc>
                <a:spcPct val="100000"/>
              </a:lnSpc>
            </a:pPr>
            <a:r>
              <a:rPr lang="en-US" sz="1600" b="1" dirty="0">
                <a:solidFill>
                  <a:srgbClr val="000000"/>
                </a:solidFill>
                <a:latin typeface="MiSans" pitchFamily="34" charset="0"/>
                <a:ea typeface="MiSans" pitchFamily="34" charset="-122"/>
                <a:cs typeface="MiSans" pitchFamily="34" charset="-120"/>
              </a:rPr>
              <a:t>Data Layer Stack</a:t>
            </a:r>
            <a:endParaRPr lang="en-US" sz="1600" dirty="0"/>
          </a:p>
        </p:txBody>
      </p:sp>
      <p:sp>
        <p:nvSpPr>
          <p:cNvPr id="9" name="Text 7"/>
          <p:cNvSpPr/>
          <p:nvPr/>
        </p:nvSpPr>
        <p:spPr>
          <a:xfrm>
            <a:off x="1593850" y="3928745"/>
            <a:ext cx="2869565" cy="1600438"/>
          </a:xfrm>
          <a:prstGeom prst="rect">
            <a:avLst/>
          </a:prstGeom>
          <a:noFill/>
        </p:spPr>
        <p:txBody>
          <a:bodyPr wrap="square" lIns="91440" tIns="45720" rIns="91440" bIns="45720" rtlCol="0" anchor="t">
            <a:spAutoFit/>
          </a:bodyPr>
          <a:lstStyle/>
          <a:p>
            <a:r>
              <a:rPr lang="en-GB" altLang="zh-CN" sz="1400" dirty="0" err="1">
                <a:solidFill>
                  <a:srgbClr val="2B2F36"/>
                </a:solidFill>
                <a:latin typeface="MiSans" pitchFamily="34" charset="0"/>
                <a:ea typeface="MiSans" pitchFamily="34" charset="-122"/>
                <a:cs typeface="MiSans" pitchFamily="34" charset="-120"/>
              </a:rPr>
              <a:t>SQLAlchemy</a:t>
            </a:r>
            <a:r>
              <a:rPr lang="en-GB" altLang="zh-CN" sz="1400" dirty="0">
                <a:solidFill>
                  <a:srgbClr val="2B2F36"/>
                </a:solidFill>
                <a:latin typeface="MiSans" pitchFamily="34" charset="0"/>
                <a:ea typeface="MiSans" pitchFamily="34" charset="-122"/>
                <a:cs typeface="MiSans" pitchFamily="34" charset="-120"/>
              </a:rPr>
              <a:t> manages relational models, while Alembic supports reproducible database migrations.</a:t>
            </a:r>
            <a:endParaRPr lang="en-GB" altLang="zh-CN" sz="1400" dirty="0">
              <a:solidFill>
                <a:srgbClr val="2B2F36"/>
              </a:solidFill>
              <a:latin typeface="MiSans" pitchFamily="34" charset="0"/>
              <a:ea typeface="MiSans" pitchFamily="34" charset="-122"/>
              <a:cs typeface="MiSans" pitchFamily="34" charset="-120"/>
            </a:endParaRPr>
          </a:p>
          <a:p>
            <a:r>
              <a:rPr lang="en-GB" altLang="zh-CN" sz="1400" dirty="0">
                <a:solidFill>
                  <a:srgbClr val="2B2F36"/>
                </a:solidFill>
                <a:latin typeface="MiSans" pitchFamily="34" charset="0"/>
                <a:ea typeface="MiSans" pitchFamily="34" charset="-122"/>
                <a:cs typeface="MiSans" pitchFamily="34" charset="-120"/>
              </a:rPr>
              <a:t>PostgreSQL is used for production, and SQLite for local testing.</a:t>
            </a:r>
            <a:endParaRPr lang="en-GB" altLang="zh-CN" sz="1400" dirty="0">
              <a:solidFill>
                <a:srgbClr val="2B2F36"/>
              </a:solidFill>
              <a:latin typeface="MiSans" pitchFamily="34" charset="0"/>
              <a:ea typeface="MiSans" pitchFamily="34" charset="-122"/>
              <a:cs typeface="MiSans" pitchFamily="34" charset="-120"/>
            </a:endParaRPr>
          </a:p>
        </p:txBody>
      </p:sp>
      <p:sp>
        <p:nvSpPr>
          <p:cNvPr id="10" name="Text 8"/>
          <p:cNvSpPr/>
          <p:nvPr/>
        </p:nvSpPr>
        <p:spPr>
          <a:xfrm>
            <a:off x="4794250" y="3345180"/>
            <a:ext cx="3004820" cy="332740"/>
          </a:xfrm>
          <a:prstGeom prst="rect">
            <a:avLst/>
          </a:prstGeom>
          <a:solidFill>
            <a:srgbClr val="FFFFFF">
              <a:alpha val="0"/>
            </a:srgbClr>
          </a:solidFill>
        </p:spPr>
        <p:txBody>
          <a:bodyPr wrap="square" lIns="91440" tIns="45720" rIns="91440" bIns="45720" rtlCol="0" anchor="t">
            <a:spAutoFit/>
          </a:bodyPr>
          <a:lstStyle/>
          <a:p>
            <a:pPr>
              <a:lnSpc>
                <a:spcPct val="100000"/>
              </a:lnSpc>
            </a:pPr>
            <a:r>
              <a:rPr lang="en-US" sz="1600" b="1" dirty="0">
                <a:solidFill>
                  <a:srgbClr val="000000"/>
                </a:solidFill>
                <a:latin typeface="MiSans" pitchFamily="34" charset="0"/>
                <a:ea typeface="MiSans" pitchFamily="34" charset="-122"/>
                <a:cs typeface="MiSans" pitchFamily="34" charset="-120"/>
              </a:rPr>
              <a:t>Security Implementation</a:t>
            </a:r>
            <a:endParaRPr lang="en-US" sz="1600" dirty="0"/>
          </a:p>
        </p:txBody>
      </p:sp>
      <p:sp>
        <p:nvSpPr>
          <p:cNvPr id="11" name="Text 9"/>
          <p:cNvSpPr/>
          <p:nvPr/>
        </p:nvSpPr>
        <p:spPr>
          <a:xfrm>
            <a:off x="4794250" y="3928745"/>
            <a:ext cx="2869565" cy="738664"/>
          </a:xfrm>
          <a:prstGeom prst="rect">
            <a:avLst/>
          </a:prstGeom>
          <a:noFill/>
        </p:spPr>
        <p:txBody>
          <a:bodyPr wrap="square" lIns="91440" tIns="45720" rIns="91440" bIns="45720" rtlCol="0" anchor="t">
            <a:spAutoFit/>
          </a:bodyPr>
          <a:lstStyle/>
          <a:p>
            <a:r>
              <a:rPr lang="en-GB" altLang="zh-CN" sz="1400" dirty="0">
                <a:solidFill>
                  <a:srgbClr val="2B2F36"/>
                </a:solidFill>
                <a:latin typeface="MiSans" pitchFamily="34" charset="0"/>
                <a:ea typeface="MiSans" pitchFamily="34" charset="-122"/>
                <a:cs typeface="MiSans" pitchFamily="34" charset="-120"/>
              </a:rPr>
              <a:t>JWT authentication protects secured endpoints and supports stateless access control.</a:t>
            </a:r>
            <a:endParaRPr lang="en-GB" altLang="zh-CN" sz="1400" dirty="0">
              <a:solidFill>
                <a:srgbClr val="2B2F36"/>
              </a:solidFill>
              <a:latin typeface="MiSans" pitchFamily="34" charset="0"/>
              <a:ea typeface="MiSans" pitchFamily="34" charset="-122"/>
              <a:cs typeface="MiSans" pitchFamily="34" charset="-120"/>
            </a:endParaRPr>
          </a:p>
        </p:txBody>
      </p:sp>
      <p:sp>
        <p:nvSpPr>
          <p:cNvPr id="12" name="Text 10"/>
          <p:cNvSpPr/>
          <p:nvPr/>
        </p:nvSpPr>
        <p:spPr>
          <a:xfrm>
            <a:off x="7994650" y="3345180"/>
            <a:ext cx="3004820" cy="332740"/>
          </a:xfrm>
          <a:prstGeom prst="rect">
            <a:avLst/>
          </a:prstGeom>
          <a:solidFill>
            <a:srgbClr val="FFFFFF">
              <a:alpha val="0"/>
            </a:srgbClr>
          </a:solidFill>
        </p:spPr>
        <p:txBody>
          <a:bodyPr wrap="square" lIns="91440" tIns="45720" rIns="91440" bIns="45720" rtlCol="0" anchor="t">
            <a:spAutoFit/>
          </a:bodyPr>
          <a:lstStyle/>
          <a:p>
            <a:pPr>
              <a:lnSpc>
                <a:spcPct val="100000"/>
              </a:lnSpc>
            </a:pPr>
            <a:r>
              <a:rPr lang="en-US" sz="1600" b="1" dirty="0">
                <a:solidFill>
                  <a:srgbClr val="000000"/>
                </a:solidFill>
                <a:latin typeface="MiSans" pitchFamily="34" charset="0"/>
                <a:ea typeface="MiSans" pitchFamily="34" charset="-122"/>
                <a:cs typeface="MiSans" pitchFamily="34" charset="-120"/>
              </a:rPr>
              <a:t>Testing Framework</a:t>
            </a:r>
            <a:endParaRPr lang="en-US" sz="1600" dirty="0"/>
          </a:p>
        </p:txBody>
      </p:sp>
      <p:sp>
        <p:nvSpPr>
          <p:cNvPr id="13" name="Text 11"/>
          <p:cNvSpPr/>
          <p:nvPr/>
        </p:nvSpPr>
        <p:spPr>
          <a:xfrm>
            <a:off x="7994650" y="3928745"/>
            <a:ext cx="2869565" cy="738664"/>
          </a:xfrm>
          <a:prstGeom prst="rect">
            <a:avLst/>
          </a:prstGeom>
          <a:noFill/>
        </p:spPr>
        <p:txBody>
          <a:bodyPr wrap="square" lIns="91440" tIns="45720" rIns="91440" bIns="45720" rtlCol="0" anchor="t">
            <a:spAutoFit/>
          </a:bodyPr>
          <a:lstStyle/>
          <a:p>
            <a:r>
              <a:rPr lang="en-GB" altLang="zh-CN" sz="1400" dirty="0" err="1">
                <a:solidFill>
                  <a:srgbClr val="2B2F36"/>
                </a:solidFill>
                <a:latin typeface="MiSans" pitchFamily="34" charset="0"/>
                <a:ea typeface="MiSans" pitchFamily="34" charset="-122"/>
                <a:cs typeface="MiSans" pitchFamily="34" charset="-120"/>
              </a:rPr>
              <a:t>Pytest</a:t>
            </a:r>
            <a:r>
              <a:rPr lang="en-GB" altLang="zh-CN" sz="1400" dirty="0">
                <a:solidFill>
                  <a:srgbClr val="2B2F36"/>
                </a:solidFill>
                <a:latin typeface="MiSans" pitchFamily="34" charset="0"/>
                <a:ea typeface="MiSans" pitchFamily="34" charset="-122"/>
                <a:cs typeface="MiSans" pitchFamily="34" charset="-120"/>
              </a:rPr>
              <a:t> supports integration testing, reusable fixtures, and clear validation of API </a:t>
            </a:r>
            <a:r>
              <a:rPr lang="en-GB" altLang="zh-CN" sz="1400" dirty="0" err="1">
                <a:solidFill>
                  <a:srgbClr val="2B2F36"/>
                </a:solidFill>
                <a:latin typeface="MiSans" pitchFamily="34" charset="0"/>
                <a:ea typeface="MiSans" pitchFamily="34" charset="-122"/>
                <a:cs typeface="MiSans" pitchFamily="34" charset="-120"/>
              </a:rPr>
              <a:t>behaviour</a:t>
            </a:r>
            <a:r>
              <a:rPr lang="en-GB" altLang="zh-CN" sz="1400" dirty="0">
                <a:solidFill>
                  <a:srgbClr val="2B2F36"/>
                </a:solidFill>
                <a:latin typeface="MiSans" pitchFamily="34" charset="0"/>
                <a:ea typeface="MiSans" pitchFamily="34" charset="-122"/>
                <a:cs typeface="MiSans" pitchFamily="34" charset="-120"/>
              </a:rPr>
              <a:t>.</a:t>
            </a:r>
            <a:endParaRPr lang="en-GB" altLang="zh-CN" sz="1400" dirty="0">
              <a:solidFill>
                <a:srgbClr val="2B2F36"/>
              </a:solidFill>
              <a:latin typeface="MiSans" pitchFamily="34" charset="0"/>
              <a:ea typeface="MiSans" pitchFamily="34" charset="-122"/>
              <a:cs typeface="MiSans" pitchFamily="34" charset="-120"/>
            </a:endParaRPr>
          </a:p>
        </p:txBody>
      </p:sp>
    </p:spTree>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1550035"/>
            <a:ext cx="12207240" cy="3992880"/>
          </a:xfrm>
          <a:prstGeom prst="rect">
            <a:avLst/>
          </a:prstGeom>
          <a:solidFill>
            <a:srgbClr val="000000"/>
          </a:solidFill>
        </p:spPr>
        <p:txBody>
          <a:bodyPr/>
          <a:lstStyle/>
          <a:p>
            <a:endParaRPr lang="zh-CN" altLang="en-US"/>
          </a:p>
        </p:txBody>
      </p:sp>
      <p:sp>
        <p:nvSpPr>
          <p:cNvPr id="3" name="Shape 1"/>
          <p:cNvSpPr/>
          <p:nvPr/>
        </p:nvSpPr>
        <p:spPr>
          <a:xfrm>
            <a:off x="638810" y="6362065"/>
            <a:ext cx="215900" cy="215900"/>
          </a:xfrm>
          <a:prstGeom prst="roundRect">
            <a:avLst>
              <a:gd name="adj" fmla="val 50000"/>
            </a:avLst>
          </a:prstGeom>
          <a:solidFill>
            <a:srgbClr val="000000"/>
          </a:solidFill>
        </p:spPr>
        <p:txBody>
          <a:bodyPr/>
          <a:lstStyle/>
          <a:p>
            <a:endParaRPr lang="zh-CN" altLang="en-US"/>
          </a:p>
        </p:txBody>
      </p:sp>
      <p:sp>
        <p:nvSpPr>
          <p:cNvPr id="4" name="Shape 2"/>
          <p:cNvSpPr/>
          <p:nvPr/>
        </p:nvSpPr>
        <p:spPr>
          <a:xfrm>
            <a:off x="765810" y="6362065"/>
            <a:ext cx="215900" cy="215900"/>
          </a:xfrm>
          <a:prstGeom prst="roundRect">
            <a:avLst>
              <a:gd name="adj" fmla="val 50000"/>
            </a:avLst>
          </a:prstGeom>
          <a:solidFill>
            <a:srgbClr val="000000">
              <a:alpha val="0"/>
            </a:srgbClr>
          </a:solidFill>
          <a:ln w="19050">
            <a:solidFill>
              <a:srgbClr val="000000"/>
            </a:solidFill>
            <a:prstDash val="solid"/>
          </a:ln>
        </p:spPr>
        <p:txBody>
          <a:bodyPr/>
          <a:lstStyle/>
          <a:p>
            <a:endParaRPr lang="zh-CN" altLang="en-US"/>
          </a:p>
        </p:txBody>
      </p:sp>
      <p:sp>
        <p:nvSpPr>
          <p:cNvPr id="5" name="Shape 3"/>
          <p:cNvSpPr/>
          <p:nvPr/>
        </p:nvSpPr>
        <p:spPr>
          <a:xfrm rot="5400000">
            <a:off x="467360" y="562610"/>
            <a:ext cx="330200" cy="330200"/>
          </a:xfrm>
          <a:prstGeom prst="triangle">
            <a:avLst>
              <a:gd name="adj" fmla="val 50000"/>
            </a:avLst>
          </a:prstGeom>
          <a:solidFill>
            <a:srgbClr val="BFBFBF"/>
          </a:solidFill>
        </p:spPr>
        <p:txBody>
          <a:bodyPr/>
          <a:lstStyle/>
          <a:p>
            <a:endParaRPr lang="zh-CN" altLang="en-US"/>
          </a:p>
        </p:txBody>
      </p:sp>
      <p:sp>
        <p:nvSpPr>
          <p:cNvPr id="6" name="Shape 4"/>
          <p:cNvSpPr/>
          <p:nvPr/>
        </p:nvSpPr>
        <p:spPr>
          <a:xfrm rot="5400000">
            <a:off x="594360" y="689610"/>
            <a:ext cx="330200" cy="330200"/>
          </a:xfrm>
          <a:prstGeom prst="triangle">
            <a:avLst>
              <a:gd name="adj" fmla="val 50000"/>
            </a:avLst>
          </a:prstGeom>
          <a:solidFill>
            <a:srgbClr val="000000"/>
          </a:solidFill>
        </p:spPr>
        <p:txBody>
          <a:bodyPr/>
          <a:lstStyle/>
          <a:p>
            <a:endParaRPr lang="zh-CN" altLang="en-US"/>
          </a:p>
        </p:txBody>
      </p:sp>
      <p:sp>
        <p:nvSpPr>
          <p:cNvPr id="7" name="Text 5"/>
          <p:cNvSpPr/>
          <p:nvPr/>
        </p:nvSpPr>
        <p:spPr>
          <a:xfrm>
            <a:off x="924560" y="497840"/>
            <a:ext cx="10782935" cy="516890"/>
          </a:xfrm>
          <a:prstGeom prst="rect">
            <a:avLst/>
          </a:prstGeom>
          <a:noFill/>
        </p:spPr>
        <p:txBody>
          <a:bodyPr wrap="square" lIns="91440" tIns="45720" rIns="91440" bIns="45720" rtlCol="0" anchor="t">
            <a:spAutoFit/>
          </a:bodyPr>
          <a:lstStyle/>
          <a:p>
            <a:pPr algn="just">
              <a:lnSpc>
                <a:spcPct val="100000"/>
              </a:lnSpc>
            </a:pPr>
            <a:r>
              <a:rPr lang="en-US" sz="2800" b="1" dirty="0">
                <a:solidFill>
                  <a:srgbClr val="000000"/>
                </a:solidFill>
                <a:latin typeface="MiSans" pitchFamily="34" charset="0"/>
                <a:ea typeface="MiSans" pitchFamily="34" charset="-122"/>
                <a:cs typeface="MiSans" pitchFamily="34" charset="-120"/>
              </a:rPr>
              <a:t>Layered System Architecture Design</a:t>
            </a:r>
            <a:endParaRPr lang="en-US" sz="1600" dirty="0"/>
          </a:p>
        </p:txBody>
      </p:sp>
      <p:sp>
        <p:nvSpPr>
          <p:cNvPr id="8" name="Text 6"/>
          <p:cNvSpPr/>
          <p:nvPr/>
        </p:nvSpPr>
        <p:spPr>
          <a:xfrm>
            <a:off x="547784" y="1671955"/>
            <a:ext cx="4615815" cy="459740"/>
          </a:xfrm>
          <a:prstGeom prst="rect">
            <a:avLst/>
          </a:prstGeom>
          <a:noFill/>
        </p:spPr>
        <p:txBody>
          <a:bodyPr wrap="square" lIns="91440" tIns="45720" rIns="91440" bIns="45720" rtlCol="0" anchor="t">
            <a:spAutoFit/>
          </a:bodyPr>
          <a:lstStyle/>
          <a:p>
            <a:pPr>
              <a:lnSpc>
                <a:spcPct val="100000"/>
              </a:lnSpc>
            </a:pPr>
            <a:r>
              <a:rPr lang="en-US" sz="2400" b="1" dirty="0">
                <a:solidFill>
                  <a:srgbClr val="FFFFFF"/>
                </a:solidFill>
                <a:latin typeface="MiSans" pitchFamily="34" charset="0"/>
                <a:ea typeface="MiSans" pitchFamily="34" charset="-122"/>
                <a:cs typeface="MiSans" pitchFamily="34" charset="-120"/>
              </a:rPr>
              <a:t>Separation of Concerns</a:t>
            </a:r>
            <a:endParaRPr lang="en-US" sz="1600" dirty="0"/>
          </a:p>
        </p:txBody>
      </p:sp>
      <p:sp>
        <p:nvSpPr>
          <p:cNvPr id="9" name="Text 7"/>
          <p:cNvSpPr/>
          <p:nvPr/>
        </p:nvSpPr>
        <p:spPr>
          <a:xfrm>
            <a:off x="124521" y="2646169"/>
            <a:ext cx="5846958" cy="1565662"/>
          </a:xfrm>
          <a:prstGeom prst="rect">
            <a:avLst/>
          </a:prstGeom>
          <a:noFill/>
        </p:spPr>
        <p:txBody>
          <a:bodyPr wrap="square" lIns="91440" tIns="45720" rIns="91440" bIns="45720" rtlCol="0" anchor="t"/>
          <a:lstStyle/>
          <a:p>
            <a:pPr>
              <a:lnSpc>
                <a:spcPct val="130000"/>
              </a:lnSpc>
            </a:pPr>
            <a:r>
              <a:rPr lang="en-GB" altLang="zh-CN" sz="1600" dirty="0">
                <a:solidFill>
                  <a:srgbClr val="FFFFFF"/>
                </a:solidFill>
                <a:latin typeface="MiSans" pitchFamily="34" charset="0"/>
                <a:ea typeface="MiSans" pitchFamily="34" charset="-122"/>
                <a:cs typeface="MiSans" pitchFamily="34" charset="-120"/>
              </a:rPr>
              <a:t>The system follows a four-layer architecture: Router for request handling, Service for business logic, Repository for data access, and Database for persistence. This separation improves testability, maintainability, and clarity of design.</a:t>
            </a:r>
            <a:endParaRPr lang="en-GB" altLang="zh-CN" sz="1600" dirty="0">
              <a:solidFill>
                <a:srgbClr val="FFFFFF"/>
              </a:solidFill>
              <a:latin typeface="MiSans" pitchFamily="34" charset="0"/>
              <a:ea typeface="MiSans" pitchFamily="34" charset="-122"/>
              <a:cs typeface="MiSans" pitchFamily="34" charset="-120"/>
            </a:endParaRPr>
          </a:p>
          <a:p>
            <a:pPr>
              <a:lnSpc>
                <a:spcPct val="130000"/>
              </a:lnSpc>
            </a:pPr>
            <a:endParaRPr lang="en-US" dirty="0"/>
          </a:p>
        </p:txBody>
      </p:sp>
      <p:pic>
        <p:nvPicPr>
          <p:cNvPr id="11" name="图片 10" descr="图示&#10;&#10;AI 生成的内容可能不正确。"/>
          <p:cNvPicPr>
            <a:picLocks noChangeAspect="1"/>
          </p:cNvPicPr>
          <p:nvPr/>
        </p:nvPicPr>
        <p:blipFill>
          <a:blip r:embed="rId1"/>
          <a:stretch>
            <a:fillRect/>
          </a:stretch>
        </p:blipFill>
        <p:spPr>
          <a:xfrm>
            <a:off x="6096000" y="2238692"/>
            <a:ext cx="5812367" cy="2615565"/>
          </a:xfrm>
          <a:prstGeom prst="rect">
            <a:avLst/>
          </a:prstGeom>
        </p:spPr>
      </p:pic>
    </p:spTree>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38810" y="6362065"/>
            <a:ext cx="215900" cy="215900"/>
          </a:xfrm>
          <a:prstGeom prst="roundRect">
            <a:avLst>
              <a:gd name="adj" fmla="val 50000"/>
            </a:avLst>
          </a:prstGeom>
          <a:solidFill>
            <a:srgbClr val="000000"/>
          </a:solidFill>
        </p:spPr>
        <p:txBody>
          <a:bodyPr/>
          <a:lstStyle/>
          <a:p>
            <a:endParaRPr lang="zh-CN" altLang="en-US"/>
          </a:p>
        </p:txBody>
      </p:sp>
      <p:sp>
        <p:nvSpPr>
          <p:cNvPr id="3" name="Shape 1"/>
          <p:cNvSpPr/>
          <p:nvPr/>
        </p:nvSpPr>
        <p:spPr>
          <a:xfrm>
            <a:off x="765810" y="6362065"/>
            <a:ext cx="215900" cy="215900"/>
          </a:xfrm>
          <a:prstGeom prst="roundRect">
            <a:avLst>
              <a:gd name="adj" fmla="val 50000"/>
            </a:avLst>
          </a:prstGeom>
          <a:solidFill>
            <a:srgbClr val="000000">
              <a:alpha val="0"/>
            </a:srgbClr>
          </a:solidFill>
          <a:ln w="19050">
            <a:solidFill>
              <a:srgbClr val="000000"/>
            </a:solidFill>
            <a:prstDash val="solid"/>
          </a:ln>
        </p:spPr>
        <p:txBody>
          <a:bodyPr/>
          <a:lstStyle/>
          <a:p>
            <a:endParaRPr lang="zh-CN" altLang="en-US"/>
          </a:p>
        </p:txBody>
      </p:sp>
      <p:sp>
        <p:nvSpPr>
          <p:cNvPr id="4" name="Shape 2"/>
          <p:cNvSpPr/>
          <p:nvPr/>
        </p:nvSpPr>
        <p:spPr>
          <a:xfrm>
            <a:off x="1056000" y="3524471"/>
            <a:ext cx="10080000" cy="0"/>
          </a:xfrm>
          <a:prstGeom prst="line">
            <a:avLst/>
          </a:prstGeom>
          <a:noFill/>
          <a:ln w="19050">
            <a:solidFill>
              <a:srgbClr val="000000"/>
            </a:solidFill>
            <a:prstDash val="solid"/>
            <a:headEnd type="none"/>
            <a:tailEnd type="none"/>
          </a:ln>
        </p:spPr>
        <p:txBody>
          <a:bodyPr/>
          <a:lstStyle/>
          <a:p>
            <a:endParaRPr lang="zh-CN" altLang="en-US"/>
          </a:p>
        </p:txBody>
      </p:sp>
      <p:sp>
        <p:nvSpPr>
          <p:cNvPr id="7" name="Shape 3"/>
          <p:cNvSpPr/>
          <p:nvPr/>
        </p:nvSpPr>
        <p:spPr>
          <a:xfrm rot="5400000">
            <a:off x="467360" y="562610"/>
            <a:ext cx="330200" cy="330200"/>
          </a:xfrm>
          <a:prstGeom prst="triangle">
            <a:avLst>
              <a:gd name="adj" fmla="val 50000"/>
            </a:avLst>
          </a:prstGeom>
          <a:solidFill>
            <a:srgbClr val="BFBFBF"/>
          </a:solidFill>
        </p:spPr>
        <p:txBody>
          <a:bodyPr/>
          <a:lstStyle/>
          <a:p>
            <a:endParaRPr lang="zh-CN" altLang="en-US"/>
          </a:p>
        </p:txBody>
      </p:sp>
      <p:sp>
        <p:nvSpPr>
          <p:cNvPr id="8" name="Shape 4"/>
          <p:cNvSpPr/>
          <p:nvPr/>
        </p:nvSpPr>
        <p:spPr>
          <a:xfrm rot="5400000">
            <a:off x="594360" y="689610"/>
            <a:ext cx="330200" cy="330200"/>
          </a:xfrm>
          <a:prstGeom prst="triangle">
            <a:avLst>
              <a:gd name="adj" fmla="val 50000"/>
            </a:avLst>
          </a:prstGeom>
          <a:solidFill>
            <a:srgbClr val="000000"/>
          </a:solidFill>
        </p:spPr>
        <p:txBody>
          <a:bodyPr/>
          <a:lstStyle/>
          <a:p>
            <a:endParaRPr lang="zh-CN" altLang="en-US"/>
          </a:p>
        </p:txBody>
      </p:sp>
      <p:sp>
        <p:nvSpPr>
          <p:cNvPr id="9" name="Text 5"/>
          <p:cNvSpPr/>
          <p:nvPr/>
        </p:nvSpPr>
        <p:spPr>
          <a:xfrm>
            <a:off x="924560" y="497840"/>
            <a:ext cx="10782935" cy="516890"/>
          </a:xfrm>
          <a:prstGeom prst="rect">
            <a:avLst/>
          </a:prstGeom>
          <a:noFill/>
        </p:spPr>
        <p:txBody>
          <a:bodyPr wrap="square" lIns="91440" tIns="45720" rIns="91440" bIns="45720" rtlCol="0" anchor="t">
            <a:spAutoFit/>
          </a:bodyPr>
          <a:lstStyle/>
          <a:p>
            <a:pPr>
              <a:lnSpc>
                <a:spcPct val="100000"/>
              </a:lnSpc>
            </a:pPr>
            <a:r>
              <a:rPr lang="en-US" sz="2800" b="1" dirty="0">
                <a:solidFill>
                  <a:srgbClr val="000000"/>
                </a:solidFill>
                <a:latin typeface="MiSans" pitchFamily="34" charset="0"/>
                <a:ea typeface="MiSans" pitchFamily="34" charset="-122"/>
                <a:cs typeface="MiSans" pitchFamily="34" charset="-120"/>
              </a:rPr>
              <a:t>Entity Relationship Data Model</a:t>
            </a:r>
            <a:endParaRPr lang="en-US" sz="1600" dirty="0"/>
          </a:p>
        </p:txBody>
      </p:sp>
      <p:sp>
        <p:nvSpPr>
          <p:cNvPr id="10" name="Text 6"/>
          <p:cNvSpPr/>
          <p:nvPr/>
        </p:nvSpPr>
        <p:spPr>
          <a:xfrm>
            <a:off x="6096000" y="1395095"/>
            <a:ext cx="6373495" cy="396240"/>
          </a:xfrm>
          <a:prstGeom prst="rect">
            <a:avLst/>
          </a:prstGeom>
          <a:noFill/>
        </p:spPr>
        <p:txBody>
          <a:bodyPr wrap="square" lIns="91440" tIns="45720" rIns="91440" bIns="45720" rtlCol="0" anchor="t">
            <a:spAutoFit/>
          </a:bodyPr>
          <a:lstStyle/>
          <a:p>
            <a:pPr>
              <a:lnSpc>
                <a:spcPct val="100000"/>
              </a:lnSpc>
            </a:pPr>
            <a:r>
              <a:rPr lang="en-US" sz="2000" b="1" dirty="0">
                <a:solidFill>
                  <a:srgbClr val="000000"/>
                </a:solidFill>
                <a:latin typeface="MiSans" pitchFamily="34" charset="0"/>
                <a:ea typeface="MiSans" pitchFamily="34" charset="-122"/>
                <a:cs typeface="MiSans" pitchFamily="34" charset="-120"/>
              </a:rPr>
              <a:t>Core Entity Relationships</a:t>
            </a:r>
            <a:endParaRPr lang="en-US" sz="1600" dirty="0"/>
          </a:p>
        </p:txBody>
      </p:sp>
      <p:sp>
        <p:nvSpPr>
          <p:cNvPr id="11" name="Text 7"/>
          <p:cNvSpPr/>
          <p:nvPr/>
        </p:nvSpPr>
        <p:spPr>
          <a:xfrm>
            <a:off x="6240643" y="1880622"/>
            <a:ext cx="4752036" cy="1323439"/>
          </a:xfrm>
          <a:prstGeom prst="rect">
            <a:avLst/>
          </a:prstGeom>
          <a:noFill/>
        </p:spPr>
        <p:txBody>
          <a:bodyPr wrap="square" lIns="91440" tIns="45720" rIns="91440" bIns="45720" rtlCol="0" anchor="t">
            <a:spAutoFit/>
          </a:bodyPr>
          <a:lstStyle/>
          <a:p>
            <a:r>
              <a:rPr lang="en-GB" altLang="zh-CN" sz="1600" dirty="0">
                <a:solidFill>
                  <a:srgbClr val="2B2F36"/>
                </a:solidFill>
                <a:latin typeface="MiSans" pitchFamily="34" charset="0"/>
                <a:ea typeface="MiSans" pitchFamily="34" charset="-122"/>
                <a:cs typeface="MiSans" pitchFamily="34" charset="-120"/>
              </a:rPr>
              <a:t>The schema links four main entities: users, authors, books, and reviews.</a:t>
            </a:r>
            <a:endParaRPr lang="en-GB" altLang="zh-CN" sz="1600" dirty="0">
              <a:solidFill>
                <a:srgbClr val="2B2F36"/>
              </a:solidFill>
              <a:latin typeface="MiSans" pitchFamily="34" charset="0"/>
              <a:ea typeface="MiSans" pitchFamily="34" charset="-122"/>
              <a:cs typeface="MiSans" pitchFamily="34" charset="-120"/>
            </a:endParaRPr>
          </a:p>
          <a:p>
            <a:r>
              <a:rPr lang="en-GB" altLang="zh-CN" sz="1600" dirty="0">
                <a:solidFill>
                  <a:srgbClr val="2B2F36"/>
                </a:solidFill>
                <a:latin typeface="MiSans" pitchFamily="34" charset="0"/>
                <a:ea typeface="MiSans" pitchFamily="34" charset="-122"/>
                <a:cs typeface="MiSans" pitchFamily="34" charset="-120"/>
              </a:rPr>
              <a:t>Authors can have multiple books, books can have multiple reviews, and reviews connect users to books through foreign keys.</a:t>
            </a:r>
            <a:endParaRPr lang="en-GB" altLang="zh-CN" sz="1600" dirty="0">
              <a:solidFill>
                <a:srgbClr val="2B2F36"/>
              </a:solidFill>
              <a:latin typeface="MiSans" pitchFamily="34" charset="0"/>
              <a:ea typeface="MiSans" pitchFamily="34" charset="-122"/>
              <a:cs typeface="MiSans" pitchFamily="34" charset="-120"/>
            </a:endParaRPr>
          </a:p>
        </p:txBody>
      </p:sp>
      <p:sp>
        <p:nvSpPr>
          <p:cNvPr id="12" name="Text 8"/>
          <p:cNvSpPr/>
          <p:nvPr/>
        </p:nvSpPr>
        <p:spPr>
          <a:xfrm>
            <a:off x="638810" y="1395095"/>
            <a:ext cx="4658747" cy="396240"/>
          </a:xfrm>
          <a:prstGeom prst="rect">
            <a:avLst/>
          </a:prstGeom>
          <a:noFill/>
        </p:spPr>
        <p:txBody>
          <a:bodyPr wrap="square" lIns="91440" tIns="45720" rIns="91440" bIns="45720" rtlCol="0" anchor="t">
            <a:spAutoFit/>
          </a:bodyPr>
          <a:lstStyle/>
          <a:p>
            <a:pPr>
              <a:lnSpc>
                <a:spcPct val="100000"/>
              </a:lnSpc>
            </a:pPr>
            <a:r>
              <a:rPr lang="en-US" sz="2000" b="1" dirty="0">
                <a:solidFill>
                  <a:srgbClr val="000000"/>
                </a:solidFill>
                <a:latin typeface="MiSans" pitchFamily="34" charset="0"/>
                <a:ea typeface="MiSans" pitchFamily="34" charset="-122"/>
                <a:cs typeface="MiSans" pitchFamily="34" charset="-120"/>
              </a:rPr>
              <a:t>Validation Constraints</a:t>
            </a:r>
            <a:endParaRPr lang="en-US" sz="1600" dirty="0"/>
          </a:p>
        </p:txBody>
      </p:sp>
      <p:sp>
        <p:nvSpPr>
          <p:cNvPr id="13" name="Text 9"/>
          <p:cNvSpPr/>
          <p:nvPr/>
        </p:nvSpPr>
        <p:spPr>
          <a:xfrm>
            <a:off x="638810" y="1878330"/>
            <a:ext cx="4658747" cy="1477328"/>
          </a:xfrm>
          <a:prstGeom prst="rect">
            <a:avLst/>
          </a:prstGeom>
          <a:noFill/>
        </p:spPr>
        <p:txBody>
          <a:bodyPr wrap="square" lIns="91440" tIns="45720" rIns="91440" bIns="45720" rtlCol="0" anchor="t">
            <a:spAutoFit/>
          </a:bodyPr>
          <a:lstStyle/>
          <a:p>
            <a:r>
              <a:rPr lang="en-GB" altLang="zh-CN" dirty="0">
                <a:solidFill>
                  <a:srgbClr val="2B2F36"/>
                </a:solidFill>
                <a:latin typeface="MiSans" pitchFamily="34" charset="0"/>
                <a:ea typeface="MiSans" pitchFamily="34" charset="-122"/>
                <a:cs typeface="MiSans" pitchFamily="34" charset="-120"/>
              </a:rPr>
              <a:t>The database enforces a unique ISBN, rating range checks, and required foreign keys.</a:t>
            </a:r>
            <a:endParaRPr lang="en-GB" altLang="zh-CN" dirty="0">
              <a:solidFill>
                <a:srgbClr val="2B2F36"/>
              </a:solidFill>
              <a:latin typeface="MiSans" pitchFamily="34" charset="0"/>
              <a:ea typeface="MiSans" pitchFamily="34" charset="-122"/>
              <a:cs typeface="MiSans" pitchFamily="34" charset="-120"/>
            </a:endParaRPr>
          </a:p>
          <a:p>
            <a:r>
              <a:rPr lang="en-GB" altLang="zh-CN" dirty="0">
                <a:solidFill>
                  <a:srgbClr val="2B2F36"/>
                </a:solidFill>
                <a:latin typeface="MiSans" pitchFamily="34" charset="0"/>
                <a:ea typeface="MiSans" pitchFamily="34" charset="-122"/>
                <a:cs typeface="MiSans" pitchFamily="34" charset="-120"/>
              </a:rPr>
              <a:t>These constraints help prevent duplicate records and maintain data integrity.</a:t>
            </a:r>
            <a:endParaRPr lang="en-GB" altLang="zh-CN" dirty="0">
              <a:solidFill>
                <a:srgbClr val="2B2F36"/>
              </a:solidFill>
              <a:latin typeface="MiSans" pitchFamily="34" charset="0"/>
              <a:ea typeface="MiSans" pitchFamily="34" charset="-122"/>
              <a:cs typeface="MiSans" pitchFamily="34" charset="-120"/>
            </a:endParaRPr>
          </a:p>
        </p:txBody>
      </p:sp>
      <p:pic>
        <p:nvPicPr>
          <p:cNvPr id="15" name="图片 14" descr="图示&#10;&#10;AI 生成的内容可能不正确。"/>
          <p:cNvPicPr>
            <a:picLocks noChangeAspect="1"/>
          </p:cNvPicPr>
          <p:nvPr/>
        </p:nvPicPr>
        <p:blipFill>
          <a:blip r:embed="rId1"/>
          <a:stretch>
            <a:fillRect/>
          </a:stretch>
        </p:blipFill>
        <p:spPr>
          <a:xfrm>
            <a:off x="2956062" y="3707711"/>
            <a:ext cx="5525623" cy="2870254"/>
          </a:xfrm>
          <a:prstGeom prst="rect">
            <a:avLst/>
          </a:prstGeom>
        </p:spPr>
      </p:pic>
    </p:spTree>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5899785"/>
            <a:ext cx="12190095" cy="958215"/>
          </a:xfrm>
          <a:prstGeom prst="rect">
            <a:avLst/>
          </a:prstGeom>
          <a:solidFill>
            <a:srgbClr val="000000"/>
          </a:solidFill>
        </p:spPr>
        <p:txBody>
          <a:bodyPr/>
          <a:lstStyle/>
          <a:p>
            <a:endParaRPr lang="zh-CN" altLang="en-US"/>
          </a:p>
        </p:txBody>
      </p:sp>
      <p:sp>
        <p:nvSpPr>
          <p:cNvPr id="3" name="Shape 1"/>
          <p:cNvSpPr/>
          <p:nvPr/>
        </p:nvSpPr>
        <p:spPr>
          <a:xfrm>
            <a:off x="4956175" y="2925445"/>
            <a:ext cx="6500495" cy="1539875"/>
          </a:xfrm>
          <a:prstGeom prst="roundRect">
            <a:avLst>
              <a:gd name="adj" fmla="val 11000"/>
            </a:avLst>
          </a:prstGeom>
          <a:solidFill>
            <a:srgbClr val="079F92"/>
          </a:solidFill>
          <a:ln w="19050">
            <a:solidFill>
              <a:srgbClr val="A0D1FA">
                <a:alpha val="43137"/>
              </a:srgbClr>
            </a:solidFill>
            <a:prstDash val="solid"/>
          </a:ln>
          <a:effectLst>
            <a:outerShdw blurRad="254000" dist="134704" dir="2700000" algn="bl" rotWithShape="0">
              <a:srgbClr val="1E69D5">
                <a:alpha val="10196"/>
              </a:srgbClr>
            </a:outerShdw>
          </a:effectLst>
        </p:spPr>
        <p:txBody>
          <a:bodyPr/>
          <a:lstStyle/>
          <a:p>
            <a:endParaRPr lang="zh-CN" altLang="en-US"/>
          </a:p>
        </p:txBody>
      </p:sp>
      <p:sp>
        <p:nvSpPr>
          <p:cNvPr id="4" name="Shape 2"/>
          <p:cNvSpPr/>
          <p:nvPr/>
        </p:nvSpPr>
        <p:spPr>
          <a:xfrm>
            <a:off x="4956175" y="1461770"/>
            <a:ext cx="6500495" cy="1339215"/>
          </a:xfrm>
          <a:prstGeom prst="roundRect">
            <a:avLst>
              <a:gd name="adj" fmla="val 8155"/>
            </a:avLst>
          </a:prstGeom>
          <a:solidFill>
            <a:srgbClr val="FFFFFF"/>
          </a:solidFill>
          <a:ln w="19050">
            <a:solidFill>
              <a:srgbClr val="A0D1FA">
                <a:alpha val="43137"/>
              </a:srgbClr>
            </a:solidFill>
            <a:prstDash val="solid"/>
          </a:ln>
          <a:effectLst>
            <a:outerShdw blurRad="254000" dist="134704" dir="2700000" algn="bl" rotWithShape="0">
              <a:srgbClr val="1E69D5">
                <a:alpha val="10196"/>
              </a:srgbClr>
            </a:outerShdw>
          </a:effectLst>
        </p:spPr>
        <p:txBody>
          <a:bodyPr/>
          <a:lstStyle/>
          <a:p>
            <a:endParaRPr lang="zh-CN" altLang="en-US"/>
          </a:p>
        </p:txBody>
      </p:sp>
      <p:sp>
        <p:nvSpPr>
          <p:cNvPr id="5" name="Shape 3"/>
          <p:cNvSpPr/>
          <p:nvPr/>
        </p:nvSpPr>
        <p:spPr>
          <a:xfrm>
            <a:off x="735965" y="1255395"/>
            <a:ext cx="10720070" cy="1545590"/>
          </a:xfrm>
          <a:prstGeom prst="roundRect">
            <a:avLst>
              <a:gd name="adj" fmla="val 8155"/>
            </a:avLst>
          </a:prstGeom>
          <a:solidFill>
            <a:srgbClr val="FFFFFF"/>
          </a:solidFill>
          <a:ln w="19050">
            <a:solidFill>
              <a:srgbClr val="CCCCCC">
                <a:alpha val="67059"/>
              </a:srgbClr>
            </a:solidFill>
            <a:prstDash val="solid"/>
          </a:ln>
          <a:effectLst>
            <a:outerShdw blurRad="254000" dist="134704" dir="2700000" algn="bl" rotWithShape="0">
              <a:srgbClr val="000000">
                <a:alpha val="10196"/>
              </a:srgbClr>
            </a:outerShdw>
          </a:effectLst>
        </p:spPr>
        <p:txBody>
          <a:bodyPr/>
          <a:lstStyle/>
          <a:p>
            <a:endParaRPr lang="zh-CN" altLang="en-US"/>
          </a:p>
        </p:txBody>
      </p:sp>
      <p:sp>
        <p:nvSpPr>
          <p:cNvPr id="6" name="Shape 4"/>
          <p:cNvSpPr/>
          <p:nvPr/>
        </p:nvSpPr>
        <p:spPr>
          <a:xfrm>
            <a:off x="735965" y="2931160"/>
            <a:ext cx="10720705" cy="1545590"/>
          </a:xfrm>
          <a:prstGeom prst="roundRect">
            <a:avLst>
              <a:gd name="adj" fmla="val 11000"/>
            </a:avLst>
          </a:prstGeom>
          <a:solidFill>
            <a:srgbClr val="000000"/>
          </a:solidFill>
          <a:ln w="19050">
            <a:solidFill>
              <a:srgbClr val="CCCCCC">
                <a:alpha val="43137"/>
              </a:srgbClr>
            </a:solidFill>
            <a:prstDash val="solid"/>
          </a:ln>
          <a:effectLst>
            <a:outerShdw blurRad="254000" dist="134704" dir="2700000" algn="bl" rotWithShape="0">
              <a:srgbClr val="000000">
                <a:alpha val="10196"/>
              </a:srgbClr>
            </a:outerShdw>
          </a:effectLst>
        </p:spPr>
        <p:txBody>
          <a:bodyPr/>
          <a:lstStyle/>
          <a:p>
            <a:endParaRPr lang="zh-CN" altLang="en-US"/>
          </a:p>
        </p:txBody>
      </p:sp>
      <p:sp>
        <p:nvSpPr>
          <p:cNvPr id="7" name="Shape 5"/>
          <p:cNvSpPr/>
          <p:nvPr/>
        </p:nvSpPr>
        <p:spPr>
          <a:xfrm>
            <a:off x="736600" y="4594860"/>
            <a:ext cx="10720070" cy="1590675"/>
          </a:xfrm>
          <a:prstGeom prst="roundRect">
            <a:avLst>
              <a:gd name="adj" fmla="val 10289"/>
            </a:avLst>
          </a:prstGeom>
          <a:solidFill>
            <a:srgbClr val="FFFFFF"/>
          </a:solidFill>
          <a:ln w="19050">
            <a:solidFill>
              <a:srgbClr val="CCCCCC">
                <a:alpha val="67059"/>
              </a:srgbClr>
            </a:solidFill>
            <a:prstDash val="solid"/>
          </a:ln>
          <a:effectLst>
            <a:outerShdw blurRad="254000" dist="134704" dir="2700000" algn="bl" rotWithShape="0">
              <a:srgbClr val="000000">
                <a:alpha val="10196"/>
              </a:srgbClr>
            </a:outerShdw>
          </a:effectLst>
        </p:spPr>
        <p:txBody>
          <a:bodyPr/>
          <a:lstStyle/>
          <a:p>
            <a:endParaRPr lang="zh-CN" altLang="en-US" dirty="0"/>
          </a:p>
        </p:txBody>
      </p:sp>
      <p:sp>
        <p:nvSpPr>
          <p:cNvPr id="8" name="Shape 6"/>
          <p:cNvSpPr/>
          <p:nvPr/>
        </p:nvSpPr>
        <p:spPr>
          <a:xfrm rot="5400000">
            <a:off x="467360" y="562610"/>
            <a:ext cx="330200" cy="330200"/>
          </a:xfrm>
          <a:prstGeom prst="triangle">
            <a:avLst>
              <a:gd name="adj" fmla="val 50000"/>
            </a:avLst>
          </a:prstGeom>
          <a:solidFill>
            <a:srgbClr val="BFBFBF"/>
          </a:solidFill>
        </p:spPr>
        <p:txBody>
          <a:bodyPr/>
          <a:lstStyle/>
          <a:p>
            <a:endParaRPr lang="zh-CN" altLang="en-US"/>
          </a:p>
        </p:txBody>
      </p:sp>
      <p:sp>
        <p:nvSpPr>
          <p:cNvPr id="9" name="Shape 7"/>
          <p:cNvSpPr/>
          <p:nvPr/>
        </p:nvSpPr>
        <p:spPr>
          <a:xfrm rot="5400000">
            <a:off x="594360" y="689610"/>
            <a:ext cx="330200" cy="330200"/>
          </a:xfrm>
          <a:prstGeom prst="triangle">
            <a:avLst>
              <a:gd name="adj" fmla="val 50000"/>
            </a:avLst>
          </a:prstGeom>
          <a:solidFill>
            <a:srgbClr val="000000"/>
          </a:solidFill>
        </p:spPr>
        <p:txBody>
          <a:bodyPr/>
          <a:lstStyle/>
          <a:p>
            <a:endParaRPr lang="zh-CN" altLang="en-US"/>
          </a:p>
        </p:txBody>
      </p:sp>
      <p:sp>
        <p:nvSpPr>
          <p:cNvPr id="10" name="Text 8"/>
          <p:cNvSpPr/>
          <p:nvPr/>
        </p:nvSpPr>
        <p:spPr>
          <a:xfrm>
            <a:off x="924560" y="497840"/>
            <a:ext cx="10782935" cy="516890"/>
          </a:xfrm>
          <a:prstGeom prst="rect">
            <a:avLst/>
          </a:prstGeom>
          <a:noFill/>
        </p:spPr>
        <p:txBody>
          <a:bodyPr wrap="square" lIns="91440" tIns="45720" rIns="91440" bIns="45720" rtlCol="0" anchor="t">
            <a:spAutoFit/>
          </a:bodyPr>
          <a:lstStyle/>
          <a:p>
            <a:pPr>
              <a:lnSpc>
                <a:spcPct val="100000"/>
              </a:lnSpc>
            </a:pPr>
            <a:r>
              <a:rPr lang="en-US" sz="2800" b="1" dirty="0">
                <a:solidFill>
                  <a:srgbClr val="000000"/>
                </a:solidFill>
                <a:latin typeface="MiSans" pitchFamily="34" charset="0"/>
                <a:ea typeface="MiSans" pitchFamily="34" charset="-122"/>
                <a:cs typeface="MiSans" pitchFamily="34" charset="-120"/>
              </a:rPr>
              <a:t>Comprehensive API Endpoint Groups</a:t>
            </a:r>
            <a:endParaRPr lang="en-US" sz="1600" dirty="0"/>
          </a:p>
        </p:txBody>
      </p:sp>
      <p:sp>
        <p:nvSpPr>
          <p:cNvPr id="11" name="Text 9"/>
          <p:cNvSpPr/>
          <p:nvPr/>
        </p:nvSpPr>
        <p:spPr>
          <a:xfrm>
            <a:off x="929005" y="1496695"/>
            <a:ext cx="10249200" cy="396240"/>
          </a:xfrm>
          <a:prstGeom prst="rect">
            <a:avLst/>
          </a:prstGeom>
          <a:noFill/>
        </p:spPr>
        <p:txBody>
          <a:bodyPr wrap="square" lIns="91440" tIns="45720" rIns="91440" bIns="45720" rtlCol="0" anchor="t">
            <a:spAutoFit/>
          </a:bodyPr>
          <a:lstStyle/>
          <a:p>
            <a:pPr>
              <a:lnSpc>
                <a:spcPct val="100000"/>
              </a:lnSpc>
            </a:pPr>
            <a:r>
              <a:rPr lang="en-US" sz="2000" b="1" dirty="0">
                <a:solidFill>
                  <a:srgbClr val="000000"/>
                </a:solidFill>
                <a:latin typeface="MiSans" pitchFamily="34" charset="0"/>
                <a:ea typeface="MiSans" pitchFamily="34" charset="-122"/>
                <a:cs typeface="MiSans" pitchFamily="34" charset="-120"/>
              </a:rPr>
              <a:t>Authentication Endpoints</a:t>
            </a:r>
            <a:endParaRPr lang="en-US" sz="1600" dirty="0"/>
          </a:p>
        </p:txBody>
      </p:sp>
      <p:sp>
        <p:nvSpPr>
          <p:cNvPr id="12" name="Text 10"/>
          <p:cNvSpPr/>
          <p:nvPr/>
        </p:nvSpPr>
        <p:spPr>
          <a:xfrm>
            <a:off x="929005" y="1842373"/>
            <a:ext cx="10249200" cy="338554"/>
          </a:xfrm>
          <a:prstGeom prst="rect">
            <a:avLst/>
          </a:prstGeom>
          <a:noFill/>
        </p:spPr>
        <p:txBody>
          <a:bodyPr wrap="square" lIns="91440" tIns="45720" rIns="91440" bIns="45720" rtlCol="0" anchor="t">
            <a:spAutoFit/>
          </a:bodyPr>
          <a:lstStyle/>
          <a:p>
            <a:r>
              <a:rPr lang="en-GB" altLang="zh-CN" sz="1600" dirty="0">
                <a:solidFill>
                  <a:srgbClr val="2B2F36"/>
                </a:solidFill>
                <a:latin typeface="MiSans" pitchFamily="34" charset="0"/>
                <a:ea typeface="MiSans" pitchFamily="34" charset="-122"/>
                <a:cs typeface="MiSans" pitchFamily="34" charset="-120"/>
              </a:rPr>
              <a:t>Register and login endpoints return JWT tokens for authenticated access.</a:t>
            </a:r>
            <a:endParaRPr lang="en-GB" altLang="zh-CN" sz="1600" dirty="0">
              <a:solidFill>
                <a:srgbClr val="2B2F36"/>
              </a:solidFill>
              <a:latin typeface="MiSans" pitchFamily="34" charset="0"/>
              <a:ea typeface="MiSans" pitchFamily="34" charset="-122"/>
              <a:cs typeface="MiSans" pitchFamily="34" charset="-120"/>
            </a:endParaRPr>
          </a:p>
        </p:txBody>
      </p:sp>
      <p:sp>
        <p:nvSpPr>
          <p:cNvPr id="13" name="Text 11"/>
          <p:cNvSpPr/>
          <p:nvPr/>
        </p:nvSpPr>
        <p:spPr>
          <a:xfrm>
            <a:off x="929005" y="3118485"/>
            <a:ext cx="10249200" cy="396240"/>
          </a:xfrm>
          <a:prstGeom prst="rect">
            <a:avLst/>
          </a:prstGeom>
          <a:noFill/>
        </p:spPr>
        <p:txBody>
          <a:bodyPr wrap="square" lIns="91440" tIns="45720" rIns="91440" bIns="45720" rtlCol="0" anchor="t">
            <a:spAutoFit/>
          </a:bodyPr>
          <a:lstStyle/>
          <a:p>
            <a:pPr>
              <a:lnSpc>
                <a:spcPct val="100000"/>
              </a:lnSpc>
            </a:pPr>
            <a:r>
              <a:rPr lang="en-US" sz="2000" b="1" dirty="0">
                <a:solidFill>
                  <a:srgbClr val="FFFFFF"/>
                </a:solidFill>
                <a:latin typeface="MiSans" pitchFamily="34" charset="0"/>
                <a:ea typeface="MiSans" pitchFamily="34" charset="-122"/>
                <a:cs typeface="MiSans" pitchFamily="34" charset="-120"/>
              </a:rPr>
              <a:t>Resource Management Endpoints</a:t>
            </a:r>
            <a:endParaRPr lang="en-US" sz="1600" dirty="0"/>
          </a:p>
        </p:txBody>
      </p:sp>
      <p:sp>
        <p:nvSpPr>
          <p:cNvPr id="14" name="Text 12"/>
          <p:cNvSpPr/>
          <p:nvPr/>
        </p:nvSpPr>
        <p:spPr>
          <a:xfrm>
            <a:off x="929005" y="3511788"/>
            <a:ext cx="10249200" cy="743409"/>
          </a:xfrm>
          <a:prstGeom prst="rect">
            <a:avLst/>
          </a:prstGeom>
          <a:noFill/>
        </p:spPr>
        <p:txBody>
          <a:bodyPr wrap="square" lIns="91440" tIns="45720" rIns="91440" bIns="45720" rtlCol="0" anchor="t">
            <a:spAutoFit/>
          </a:bodyPr>
          <a:lstStyle/>
          <a:p>
            <a:pPr>
              <a:lnSpc>
                <a:spcPct val="130000"/>
              </a:lnSpc>
            </a:pPr>
            <a:r>
              <a:rPr lang="en-GB" altLang="zh-CN" sz="1600" dirty="0">
                <a:solidFill>
                  <a:srgbClr val="FFFFFF"/>
                </a:solidFill>
                <a:latin typeface="MiSans" pitchFamily="34" charset="0"/>
                <a:ea typeface="MiSans" pitchFamily="34" charset="-122"/>
                <a:cs typeface="MiSans" pitchFamily="34" charset="-120"/>
              </a:rPr>
              <a:t>Authors, books, and reviews support full CRUD operations with filtering options.</a:t>
            </a:r>
            <a:endParaRPr lang="en-GB" altLang="zh-CN" sz="1600" dirty="0">
              <a:solidFill>
                <a:srgbClr val="FFFFFF"/>
              </a:solidFill>
              <a:latin typeface="MiSans" pitchFamily="34" charset="0"/>
              <a:ea typeface="MiSans" pitchFamily="34" charset="-122"/>
              <a:cs typeface="MiSans" pitchFamily="34" charset="-120"/>
            </a:endParaRPr>
          </a:p>
          <a:p>
            <a:pPr>
              <a:lnSpc>
                <a:spcPct val="130000"/>
              </a:lnSpc>
            </a:pPr>
            <a:endParaRPr lang="en-US" dirty="0"/>
          </a:p>
        </p:txBody>
      </p:sp>
      <p:sp>
        <p:nvSpPr>
          <p:cNvPr id="15" name="Text 13"/>
          <p:cNvSpPr/>
          <p:nvPr/>
        </p:nvSpPr>
        <p:spPr>
          <a:xfrm>
            <a:off x="929005" y="4831080"/>
            <a:ext cx="10249200" cy="396240"/>
          </a:xfrm>
          <a:prstGeom prst="rect">
            <a:avLst/>
          </a:prstGeom>
          <a:noFill/>
        </p:spPr>
        <p:txBody>
          <a:bodyPr wrap="square" lIns="91440" tIns="45720" rIns="91440" bIns="45720" rtlCol="0" anchor="t">
            <a:spAutoFit/>
          </a:bodyPr>
          <a:lstStyle/>
          <a:p>
            <a:pPr>
              <a:lnSpc>
                <a:spcPct val="100000"/>
              </a:lnSpc>
            </a:pPr>
            <a:r>
              <a:rPr lang="en-US" sz="2000" b="1" dirty="0">
                <a:solidFill>
                  <a:srgbClr val="000000"/>
                </a:solidFill>
                <a:latin typeface="MiSans" pitchFamily="34" charset="0"/>
                <a:ea typeface="MiSans" pitchFamily="34" charset="-122"/>
                <a:cs typeface="MiSans" pitchFamily="34" charset="-120"/>
              </a:rPr>
              <a:t>Analytics Endpoints</a:t>
            </a:r>
            <a:endParaRPr lang="en-US" sz="1600" dirty="0"/>
          </a:p>
        </p:txBody>
      </p:sp>
      <p:sp>
        <p:nvSpPr>
          <p:cNvPr id="16" name="Text 14"/>
          <p:cNvSpPr/>
          <p:nvPr/>
        </p:nvSpPr>
        <p:spPr>
          <a:xfrm>
            <a:off x="924560" y="5220569"/>
            <a:ext cx="10249200" cy="338554"/>
          </a:xfrm>
          <a:prstGeom prst="rect">
            <a:avLst/>
          </a:prstGeom>
          <a:noFill/>
        </p:spPr>
        <p:txBody>
          <a:bodyPr wrap="square" lIns="91440" tIns="45720" rIns="91440" bIns="45720" rtlCol="0" anchor="t">
            <a:spAutoFit/>
          </a:bodyPr>
          <a:lstStyle/>
          <a:p>
            <a:r>
              <a:rPr lang="en-GB" altLang="zh-CN" sz="1600" dirty="0">
                <a:solidFill>
                  <a:srgbClr val="2B2F36"/>
                </a:solidFill>
                <a:latin typeface="MiSans" pitchFamily="34" charset="0"/>
                <a:ea typeface="MiSans" pitchFamily="34" charset="-122"/>
                <a:cs typeface="MiSans" pitchFamily="34" charset="-120"/>
              </a:rPr>
              <a:t>Analytics endpoints provide genre trends, rating distribution, and personalized recommendations.</a:t>
            </a:r>
            <a:endParaRPr lang="en-GB" altLang="zh-CN" sz="1600" dirty="0">
              <a:solidFill>
                <a:srgbClr val="2B2F36"/>
              </a:solidFill>
              <a:latin typeface="MiSans" pitchFamily="34" charset="0"/>
              <a:ea typeface="MiSans" pitchFamily="34" charset="-122"/>
              <a:cs typeface="MiSans" pitchFamily="34" charset="-120"/>
            </a:endParaRPr>
          </a:p>
        </p:txBody>
      </p:sp>
    </p:spTree>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rot="5400000">
            <a:off x="467360" y="562610"/>
            <a:ext cx="354712" cy="330200"/>
          </a:xfrm>
          <a:prstGeom prst="triangle">
            <a:avLst>
              <a:gd name="adj" fmla="val 50000"/>
            </a:avLst>
          </a:prstGeom>
          <a:solidFill>
            <a:srgbClr val="BFBFBF"/>
          </a:solidFill>
        </p:spPr>
        <p:txBody>
          <a:bodyPr/>
          <a:lstStyle/>
          <a:p>
            <a:endParaRPr lang="zh-CN" altLang="en-US"/>
          </a:p>
        </p:txBody>
      </p:sp>
      <p:sp>
        <p:nvSpPr>
          <p:cNvPr id="3" name="Shape 1"/>
          <p:cNvSpPr/>
          <p:nvPr/>
        </p:nvSpPr>
        <p:spPr>
          <a:xfrm rot="5400000">
            <a:off x="603788" y="689610"/>
            <a:ext cx="354712" cy="330200"/>
          </a:xfrm>
          <a:prstGeom prst="triangle">
            <a:avLst>
              <a:gd name="adj" fmla="val 50000"/>
            </a:avLst>
          </a:prstGeom>
          <a:solidFill>
            <a:srgbClr val="000000"/>
          </a:solidFill>
        </p:spPr>
        <p:txBody>
          <a:bodyPr/>
          <a:lstStyle/>
          <a:p>
            <a:endParaRPr lang="zh-CN" altLang="en-US"/>
          </a:p>
        </p:txBody>
      </p:sp>
      <p:sp>
        <p:nvSpPr>
          <p:cNvPr id="4" name="Text 2"/>
          <p:cNvSpPr/>
          <p:nvPr/>
        </p:nvSpPr>
        <p:spPr>
          <a:xfrm>
            <a:off x="958499" y="497840"/>
            <a:ext cx="11583386" cy="516890"/>
          </a:xfrm>
          <a:prstGeom prst="rect">
            <a:avLst/>
          </a:prstGeom>
          <a:noFill/>
        </p:spPr>
        <p:txBody>
          <a:bodyPr wrap="square" lIns="91440" tIns="45720" rIns="91440" bIns="45720" rtlCol="0" anchor="t">
            <a:spAutoFit/>
          </a:bodyPr>
          <a:lstStyle/>
          <a:p>
            <a:pPr>
              <a:lnSpc>
                <a:spcPct val="100000"/>
              </a:lnSpc>
            </a:pPr>
            <a:r>
              <a:rPr lang="en-US" sz="2800" b="1" dirty="0">
                <a:solidFill>
                  <a:srgbClr val="000000"/>
                </a:solidFill>
                <a:latin typeface="MiSans" pitchFamily="34" charset="0"/>
                <a:ea typeface="MiSans" pitchFamily="34" charset="-122"/>
                <a:cs typeface="MiSans" pitchFamily="34" charset="-120"/>
              </a:rPr>
              <a:t>Analytics and Recommendation Engine</a:t>
            </a:r>
            <a:endParaRPr lang="en-US" sz="1600" dirty="0"/>
          </a:p>
        </p:txBody>
      </p:sp>
      <p:sp>
        <p:nvSpPr>
          <p:cNvPr id="5" name="Shape 3"/>
          <p:cNvSpPr/>
          <p:nvPr/>
        </p:nvSpPr>
        <p:spPr>
          <a:xfrm>
            <a:off x="422910" y="6374130"/>
            <a:ext cx="215900" cy="215900"/>
          </a:xfrm>
          <a:prstGeom prst="roundRect">
            <a:avLst>
              <a:gd name="adj" fmla="val 50000"/>
            </a:avLst>
          </a:prstGeom>
          <a:solidFill>
            <a:srgbClr val="000000"/>
          </a:solidFill>
        </p:spPr>
        <p:txBody>
          <a:bodyPr/>
          <a:lstStyle/>
          <a:p>
            <a:endParaRPr lang="zh-CN" altLang="en-US"/>
          </a:p>
        </p:txBody>
      </p:sp>
      <p:sp>
        <p:nvSpPr>
          <p:cNvPr id="6" name="Shape 4"/>
          <p:cNvSpPr/>
          <p:nvPr/>
        </p:nvSpPr>
        <p:spPr>
          <a:xfrm>
            <a:off x="549910" y="6374130"/>
            <a:ext cx="215900" cy="215900"/>
          </a:xfrm>
          <a:prstGeom prst="roundRect">
            <a:avLst>
              <a:gd name="adj" fmla="val 50000"/>
            </a:avLst>
          </a:prstGeom>
          <a:solidFill>
            <a:srgbClr val="000000">
              <a:alpha val="0"/>
            </a:srgbClr>
          </a:solidFill>
          <a:ln w="19050">
            <a:solidFill>
              <a:srgbClr val="000000"/>
            </a:solidFill>
            <a:prstDash val="solid"/>
          </a:ln>
        </p:spPr>
        <p:txBody>
          <a:bodyPr/>
          <a:lstStyle/>
          <a:p>
            <a:endParaRPr lang="zh-CN" altLang="en-US"/>
          </a:p>
        </p:txBody>
      </p:sp>
      <p:sp>
        <p:nvSpPr>
          <p:cNvPr id="14" name="Shape 12"/>
          <p:cNvSpPr/>
          <p:nvPr/>
        </p:nvSpPr>
        <p:spPr>
          <a:xfrm>
            <a:off x="8439730" y="4133657"/>
            <a:ext cx="85090" cy="328930"/>
          </a:xfrm>
          <a:prstGeom prst="rect">
            <a:avLst/>
          </a:prstGeom>
          <a:solidFill>
            <a:srgbClr val="000000"/>
          </a:solidFill>
        </p:spPr>
        <p:txBody>
          <a:bodyPr/>
          <a:lstStyle/>
          <a:p>
            <a:endParaRPr lang="zh-CN" altLang="en-US"/>
          </a:p>
        </p:txBody>
      </p:sp>
      <p:sp>
        <p:nvSpPr>
          <p:cNvPr id="16" name="Text 13"/>
          <p:cNvSpPr/>
          <p:nvPr/>
        </p:nvSpPr>
        <p:spPr>
          <a:xfrm>
            <a:off x="50800" y="1711132"/>
            <a:ext cx="3318510" cy="396240"/>
          </a:xfrm>
          <a:prstGeom prst="rect">
            <a:avLst/>
          </a:prstGeom>
          <a:solidFill>
            <a:srgbClr val="FFFFFF">
              <a:alpha val="0"/>
            </a:srgbClr>
          </a:solidFill>
        </p:spPr>
        <p:txBody>
          <a:bodyPr wrap="square" lIns="91440" tIns="45720" rIns="91440" bIns="45720" rtlCol="0" anchor="t">
            <a:spAutoFit/>
          </a:bodyPr>
          <a:lstStyle/>
          <a:p>
            <a:pPr>
              <a:lnSpc>
                <a:spcPct val="100000"/>
              </a:lnSpc>
            </a:pPr>
            <a:r>
              <a:rPr lang="en-US" sz="2000" b="1" dirty="0">
                <a:solidFill>
                  <a:srgbClr val="000000"/>
                </a:solidFill>
                <a:latin typeface="MiSans" pitchFamily="34" charset="0"/>
                <a:ea typeface="MiSans" pitchFamily="34" charset="-122"/>
                <a:cs typeface="MiSans" pitchFamily="34" charset="-120"/>
              </a:rPr>
              <a:t>Genre Trend Analysis</a:t>
            </a:r>
            <a:endParaRPr lang="en-US" sz="1600" dirty="0"/>
          </a:p>
        </p:txBody>
      </p:sp>
      <p:sp>
        <p:nvSpPr>
          <p:cNvPr id="17" name="Text 14"/>
          <p:cNvSpPr/>
          <p:nvPr/>
        </p:nvSpPr>
        <p:spPr>
          <a:xfrm>
            <a:off x="57785" y="2104138"/>
            <a:ext cx="3397885" cy="1077218"/>
          </a:xfrm>
          <a:prstGeom prst="rect">
            <a:avLst/>
          </a:prstGeom>
          <a:noFill/>
        </p:spPr>
        <p:txBody>
          <a:bodyPr wrap="square" lIns="91440" tIns="45720" rIns="91440" bIns="45720" rtlCol="0" anchor="t">
            <a:spAutoFit/>
          </a:bodyPr>
          <a:lstStyle/>
          <a:p>
            <a:r>
              <a:rPr lang="en-GB" altLang="zh-CN" sz="1600" dirty="0">
                <a:solidFill>
                  <a:srgbClr val="2B2F36"/>
                </a:solidFill>
                <a:latin typeface="MiSans" pitchFamily="34" charset="0"/>
                <a:ea typeface="MiSans" pitchFamily="34" charset="-122"/>
                <a:cs typeface="MiSans" pitchFamily="34" charset="-120"/>
              </a:rPr>
              <a:t>The /analytics/genre-trends endpoint identifies popular genres from publication and review patterns.</a:t>
            </a:r>
            <a:endParaRPr lang="en-GB" altLang="zh-CN" sz="1600" dirty="0">
              <a:solidFill>
                <a:srgbClr val="2B2F36"/>
              </a:solidFill>
              <a:latin typeface="MiSans" pitchFamily="34" charset="0"/>
              <a:ea typeface="MiSans" pitchFamily="34" charset="-122"/>
              <a:cs typeface="MiSans" pitchFamily="34" charset="-120"/>
            </a:endParaRPr>
          </a:p>
        </p:txBody>
      </p:sp>
      <p:sp>
        <p:nvSpPr>
          <p:cNvPr id="18" name="Text 15"/>
          <p:cNvSpPr/>
          <p:nvPr/>
        </p:nvSpPr>
        <p:spPr>
          <a:xfrm>
            <a:off x="52070" y="4086032"/>
            <a:ext cx="3403600" cy="396240"/>
          </a:xfrm>
          <a:prstGeom prst="rect">
            <a:avLst/>
          </a:prstGeom>
          <a:solidFill>
            <a:srgbClr val="FFFFFF">
              <a:alpha val="0"/>
            </a:srgbClr>
          </a:solidFill>
        </p:spPr>
        <p:txBody>
          <a:bodyPr wrap="square" lIns="91440" tIns="45720" rIns="91440" bIns="45720" rtlCol="0" anchor="t">
            <a:spAutoFit/>
          </a:bodyPr>
          <a:lstStyle/>
          <a:p>
            <a:pPr>
              <a:lnSpc>
                <a:spcPct val="100000"/>
              </a:lnSpc>
            </a:pPr>
            <a:r>
              <a:rPr lang="en-US" sz="2000" b="1" dirty="0">
                <a:solidFill>
                  <a:srgbClr val="000000"/>
                </a:solidFill>
                <a:latin typeface="MiSans" pitchFamily="34" charset="0"/>
                <a:ea typeface="MiSans" pitchFamily="34" charset="-122"/>
                <a:cs typeface="MiSans" pitchFamily="34" charset="-120"/>
              </a:rPr>
              <a:t>Rating Distribution</a:t>
            </a:r>
            <a:endParaRPr lang="en-US" sz="1600" dirty="0"/>
          </a:p>
        </p:txBody>
      </p:sp>
      <p:sp>
        <p:nvSpPr>
          <p:cNvPr id="19" name="Text 16"/>
          <p:cNvSpPr/>
          <p:nvPr/>
        </p:nvSpPr>
        <p:spPr>
          <a:xfrm>
            <a:off x="57785" y="4454001"/>
            <a:ext cx="3311525" cy="830997"/>
          </a:xfrm>
          <a:prstGeom prst="rect">
            <a:avLst/>
          </a:prstGeom>
          <a:noFill/>
        </p:spPr>
        <p:txBody>
          <a:bodyPr wrap="square" lIns="91440" tIns="45720" rIns="91440" bIns="45720" rtlCol="0" anchor="t">
            <a:spAutoFit/>
          </a:bodyPr>
          <a:lstStyle/>
          <a:p>
            <a:r>
              <a:rPr lang="en-GB" altLang="zh-CN" sz="1600" dirty="0">
                <a:solidFill>
                  <a:srgbClr val="2B2F36"/>
                </a:solidFill>
                <a:latin typeface="MiSans" pitchFamily="34" charset="0"/>
                <a:ea typeface="MiSans" pitchFamily="34" charset="-122"/>
                <a:cs typeface="MiSans" pitchFamily="34" charset="-120"/>
              </a:rPr>
              <a:t>The /analytics/rating-distribution endpoint summarizes review scores across the catalog.</a:t>
            </a:r>
            <a:endParaRPr lang="en-GB" altLang="zh-CN" sz="1600" dirty="0">
              <a:solidFill>
                <a:srgbClr val="2B2F36"/>
              </a:solidFill>
              <a:latin typeface="MiSans" pitchFamily="34" charset="0"/>
              <a:ea typeface="MiSans" pitchFamily="34" charset="-122"/>
              <a:cs typeface="MiSans" pitchFamily="34" charset="-120"/>
            </a:endParaRPr>
          </a:p>
        </p:txBody>
      </p:sp>
      <p:sp>
        <p:nvSpPr>
          <p:cNvPr id="20" name="Text 17"/>
          <p:cNvSpPr/>
          <p:nvPr/>
        </p:nvSpPr>
        <p:spPr>
          <a:xfrm>
            <a:off x="8527995" y="1711132"/>
            <a:ext cx="4130040" cy="396240"/>
          </a:xfrm>
          <a:prstGeom prst="rect">
            <a:avLst/>
          </a:prstGeom>
          <a:solidFill>
            <a:srgbClr val="FFFFFF">
              <a:alpha val="0"/>
            </a:srgbClr>
          </a:solidFill>
        </p:spPr>
        <p:txBody>
          <a:bodyPr wrap="square" lIns="91440" tIns="45720" rIns="91440" bIns="45720" rtlCol="0" anchor="t">
            <a:spAutoFit/>
          </a:bodyPr>
          <a:lstStyle/>
          <a:p>
            <a:pPr>
              <a:lnSpc>
                <a:spcPct val="100000"/>
              </a:lnSpc>
            </a:pPr>
            <a:r>
              <a:rPr lang="en-US" sz="2000" b="1" dirty="0">
                <a:solidFill>
                  <a:srgbClr val="000000"/>
                </a:solidFill>
                <a:latin typeface="MiSans" pitchFamily="34" charset="0"/>
                <a:ea typeface="MiSans" pitchFamily="34" charset="-122"/>
                <a:cs typeface="MiSans" pitchFamily="34" charset="-120"/>
              </a:rPr>
              <a:t>Personalized Recommendations</a:t>
            </a:r>
            <a:endParaRPr lang="en-US" sz="1600" dirty="0"/>
          </a:p>
        </p:txBody>
      </p:sp>
      <p:sp>
        <p:nvSpPr>
          <p:cNvPr id="21" name="Text 18"/>
          <p:cNvSpPr/>
          <p:nvPr/>
        </p:nvSpPr>
        <p:spPr>
          <a:xfrm>
            <a:off x="8527995" y="2095942"/>
            <a:ext cx="3878580" cy="1077218"/>
          </a:xfrm>
          <a:prstGeom prst="rect">
            <a:avLst/>
          </a:prstGeom>
          <a:noFill/>
        </p:spPr>
        <p:txBody>
          <a:bodyPr wrap="square" lIns="91440" tIns="45720" rIns="91440" bIns="45720" rtlCol="0" anchor="t">
            <a:spAutoFit/>
          </a:bodyPr>
          <a:lstStyle/>
          <a:p>
            <a:r>
              <a:rPr lang="en-GB" altLang="zh-CN" sz="1600" dirty="0">
                <a:solidFill>
                  <a:srgbClr val="2B2F36"/>
                </a:solidFill>
                <a:latin typeface="MiSans" pitchFamily="34" charset="0"/>
                <a:ea typeface="MiSans" pitchFamily="34" charset="-122"/>
                <a:cs typeface="MiSans" pitchFamily="34" charset="-120"/>
              </a:rPr>
              <a:t>The /analytics/recommendations/{</a:t>
            </a:r>
            <a:r>
              <a:rPr lang="en-GB" altLang="zh-CN" sz="1600" dirty="0" err="1">
                <a:solidFill>
                  <a:srgbClr val="2B2F36"/>
                </a:solidFill>
                <a:latin typeface="MiSans" pitchFamily="34" charset="0"/>
                <a:ea typeface="MiSans" pitchFamily="34" charset="-122"/>
                <a:cs typeface="MiSans" pitchFamily="34" charset="-120"/>
              </a:rPr>
              <a:t>user_id</a:t>
            </a:r>
            <a:r>
              <a:rPr lang="en-GB" altLang="zh-CN" sz="1600" dirty="0">
                <a:solidFill>
                  <a:srgbClr val="2B2F36"/>
                </a:solidFill>
                <a:latin typeface="MiSans" pitchFamily="34" charset="0"/>
                <a:ea typeface="MiSans" pitchFamily="34" charset="-122"/>
                <a:cs typeface="MiSans" pitchFamily="34" charset="-120"/>
              </a:rPr>
              <a:t>} endpoint suggests books based on a user’s review history.</a:t>
            </a:r>
            <a:endParaRPr lang="en-GB" altLang="zh-CN" sz="1600" dirty="0">
              <a:solidFill>
                <a:srgbClr val="2B2F36"/>
              </a:solidFill>
              <a:latin typeface="MiSans" pitchFamily="34" charset="0"/>
              <a:ea typeface="MiSans" pitchFamily="34" charset="-122"/>
              <a:cs typeface="MiSans" pitchFamily="34" charset="-120"/>
            </a:endParaRPr>
          </a:p>
        </p:txBody>
      </p:sp>
      <p:sp>
        <p:nvSpPr>
          <p:cNvPr id="22" name="Text 19"/>
          <p:cNvSpPr/>
          <p:nvPr/>
        </p:nvSpPr>
        <p:spPr>
          <a:xfrm>
            <a:off x="8527995" y="4086032"/>
            <a:ext cx="4130040" cy="396240"/>
          </a:xfrm>
          <a:prstGeom prst="rect">
            <a:avLst/>
          </a:prstGeom>
          <a:solidFill>
            <a:srgbClr val="FFFFFF">
              <a:alpha val="0"/>
            </a:srgbClr>
          </a:solidFill>
        </p:spPr>
        <p:txBody>
          <a:bodyPr wrap="square" lIns="91440" tIns="45720" rIns="91440" bIns="45720" rtlCol="0" anchor="t">
            <a:spAutoFit/>
          </a:bodyPr>
          <a:lstStyle/>
          <a:p>
            <a:pPr>
              <a:lnSpc>
                <a:spcPct val="100000"/>
              </a:lnSpc>
            </a:pPr>
            <a:r>
              <a:rPr lang="en-US" sz="2000" b="1" dirty="0">
                <a:solidFill>
                  <a:srgbClr val="000000"/>
                </a:solidFill>
                <a:latin typeface="MiSans" pitchFamily="34" charset="0"/>
                <a:ea typeface="MiSans" pitchFamily="34" charset="-122"/>
                <a:cs typeface="MiSans" pitchFamily="34" charset="-120"/>
              </a:rPr>
              <a:t>Demo Flow Sequence</a:t>
            </a:r>
            <a:endParaRPr lang="en-US" sz="1600" dirty="0"/>
          </a:p>
        </p:txBody>
      </p:sp>
      <p:sp>
        <p:nvSpPr>
          <p:cNvPr id="23" name="Text 20"/>
          <p:cNvSpPr/>
          <p:nvPr/>
        </p:nvSpPr>
        <p:spPr>
          <a:xfrm>
            <a:off x="8527995" y="4427027"/>
            <a:ext cx="3878580" cy="830997"/>
          </a:xfrm>
          <a:prstGeom prst="rect">
            <a:avLst/>
          </a:prstGeom>
          <a:noFill/>
        </p:spPr>
        <p:txBody>
          <a:bodyPr wrap="square" lIns="91440" tIns="45720" rIns="91440" bIns="45720" rtlCol="0" anchor="t">
            <a:spAutoFit/>
          </a:bodyPr>
          <a:lstStyle/>
          <a:p>
            <a:r>
              <a:rPr lang="en-GB" altLang="zh-CN" sz="1600" dirty="0">
                <a:solidFill>
                  <a:srgbClr val="2B2F36"/>
                </a:solidFill>
                <a:latin typeface="MiSans" pitchFamily="34" charset="0"/>
                <a:ea typeface="MiSans" pitchFamily="34" charset="-122"/>
                <a:cs typeface="MiSans" pitchFamily="34" charset="-120"/>
              </a:rPr>
              <a:t>The demo shows registration, authentication, CRUD operations, filtering, and analytics results.</a:t>
            </a:r>
            <a:endParaRPr lang="en-GB" altLang="zh-CN" sz="1600" dirty="0">
              <a:solidFill>
                <a:srgbClr val="2B2F36"/>
              </a:solidFill>
              <a:latin typeface="MiSans" pitchFamily="34" charset="0"/>
              <a:ea typeface="MiSans" pitchFamily="34" charset="-122"/>
              <a:cs typeface="MiSans" pitchFamily="34" charset="-120"/>
            </a:endParaRPr>
          </a:p>
        </p:txBody>
      </p:sp>
      <p:pic>
        <p:nvPicPr>
          <p:cNvPr id="25" name="图片 24" descr="图示&#10;&#10;AI 生成的内容可能不正确。"/>
          <p:cNvPicPr>
            <a:picLocks noChangeAspect="1"/>
          </p:cNvPicPr>
          <p:nvPr/>
        </p:nvPicPr>
        <p:blipFill>
          <a:blip r:embed="rId1"/>
          <a:stretch>
            <a:fillRect/>
          </a:stretch>
        </p:blipFill>
        <p:spPr>
          <a:xfrm>
            <a:off x="3237202" y="2227420"/>
            <a:ext cx="5287618" cy="2643809"/>
          </a:xfrm>
          <a:prstGeom prst="rect">
            <a:avLst/>
          </a:prstGeom>
        </p:spPr>
      </p:pic>
    </p:spTree>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38810" y="6362065"/>
            <a:ext cx="215900" cy="215900"/>
          </a:xfrm>
          <a:prstGeom prst="roundRect">
            <a:avLst>
              <a:gd name="adj" fmla="val 50000"/>
            </a:avLst>
          </a:prstGeom>
          <a:solidFill>
            <a:srgbClr val="000000"/>
          </a:solidFill>
        </p:spPr>
        <p:txBody>
          <a:bodyPr/>
          <a:lstStyle/>
          <a:p>
            <a:endParaRPr lang="zh-CN" altLang="en-US"/>
          </a:p>
        </p:txBody>
      </p:sp>
      <p:sp>
        <p:nvSpPr>
          <p:cNvPr id="3" name="Shape 1"/>
          <p:cNvSpPr/>
          <p:nvPr/>
        </p:nvSpPr>
        <p:spPr>
          <a:xfrm>
            <a:off x="765810" y="6362065"/>
            <a:ext cx="215900" cy="215900"/>
          </a:xfrm>
          <a:prstGeom prst="roundRect">
            <a:avLst>
              <a:gd name="adj" fmla="val 50000"/>
            </a:avLst>
          </a:prstGeom>
          <a:solidFill>
            <a:srgbClr val="000000">
              <a:alpha val="0"/>
            </a:srgbClr>
          </a:solidFill>
          <a:ln w="19050">
            <a:solidFill>
              <a:srgbClr val="000000"/>
            </a:solidFill>
            <a:prstDash val="solid"/>
          </a:ln>
        </p:spPr>
        <p:txBody>
          <a:bodyPr/>
          <a:lstStyle/>
          <a:p>
            <a:endParaRPr lang="zh-CN" altLang="en-US"/>
          </a:p>
        </p:txBody>
      </p:sp>
      <p:sp>
        <p:nvSpPr>
          <p:cNvPr id="4" name="Shape 2"/>
          <p:cNvSpPr/>
          <p:nvPr/>
        </p:nvSpPr>
        <p:spPr>
          <a:xfrm>
            <a:off x="462280" y="1524317"/>
            <a:ext cx="3567272" cy="502920"/>
          </a:xfrm>
          <a:prstGeom prst="round1Rect">
            <a:avLst>
              <a:gd name="adj" fmla="val 16667"/>
            </a:avLst>
          </a:prstGeom>
          <a:solidFill>
            <a:srgbClr val="000000"/>
          </a:solidFill>
        </p:spPr>
        <p:txBody>
          <a:bodyPr/>
          <a:lstStyle/>
          <a:p>
            <a:endParaRPr lang="zh-CN" altLang="en-US"/>
          </a:p>
        </p:txBody>
      </p:sp>
      <p:sp>
        <p:nvSpPr>
          <p:cNvPr id="5" name="Shape 3"/>
          <p:cNvSpPr/>
          <p:nvPr/>
        </p:nvSpPr>
        <p:spPr>
          <a:xfrm>
            <a:off x="467360" y="2032317"/>
            <a:ext cx="6247765" cy="1493520"/>
          </a:xfrm>
          <a:prstGeom prst="roundRect">
            <a:avLst>
              <a:gd name="adj" fmla="val 0"/>
            </a:avLst>
          </a:prstGeom>
          <a:solidFill>
            <a:srgbClr val="000000">
              <a:alpha val="0"/>
            </a:srgbClr>
          </a:solidFill>
          <a:ln w="19050">
            <a:solidFill>
              <a:srgbClr val="000000"/>
            </a:solidFill>
            <a:prstDash val="solid"/>
          </a:ln>
        </p:spPr>
        <p:txBody>
          <a:bodyPr/>
          <a:lstStyle/>
          <a:p>
            <a:endParaRPr lang="zh-CN" altLang="en-US"/>
          </a:p>
        </p:txBody>
      </p:sp>
      <p:sp>
        <p:nvSpPr>
          <p:cNvPr id="6" name="Shape 4"/>
          <p:cNvSpPr/>
          <p:nvPr/>
        </p:nvSpPr>
        <p:spPr>
          <a:xfrm>
            <a:off x="462280" y="3845877"/>
            <a:ext cx="3567515" cy="502920"/>
          </a:xfrm>
          <a:prstGeom prst="round1Rect">
            <a:avLst>
              <a:gd name="adj" fmla="val 16667"/>
            </a:avLst>
          </a:prstGeom>
          <a:solidFill>
            <a:srgbClr val="000000"/>
          </a:solidFill>
        </p:spPr>
        <p:txBody>
          <a:bodyPr/>
          <a:lstStyle/>
          <a:p>
            <a:endParaRPr lang="zh-CN" altLang="en-US"/>
          </a:p>
        </p:txBody>
      </p:sp>
      <p:sp>
        <p:nvSpPr>
          <p:cNvPr id="7" name="Shape 5"/>
          <p:cNvSpPr/>
          <p:nvPr/>
        </p:nvSpPr>
        <p:spPr>
          <a:xfrm>
            <a:off x="467360" y="4353877"/>
            <a:ext cx="6247765" cy="1493520"/>
          </a:xfrm>
          <a:prstGeom prst="roundRect">
            <a:avLst>
              <a:gd name="adj" fmla="val 0"/>
            </a:avLst>
          </a:prstGeom>
          <a:solidFill>
            <a:srgbClr val="000000">
              <a:alpha val="0"/>
            </a:srgbClr>
          </a:solidFill>
          <a:ln w="19050">
            <a:solidFill>
              <a:srgbClr val="000000"/>
            </a:solidFill>
            <a:prstDash val="solid"/>
          </a:ln>
        </p:spPr>
        <p:txBody>
          <a:bodyPr/>
          <a:lstStyle/>
          <a:p>
            <a:endParaRPr lang="zh-CN" altLang="en-US"/>
          </a:p>
        </p:txBody>
      </p:sp>
      <p:sp>
        <p:nvSpPr>
          <p:cNvPr id="9" name="Shape 6"/>
          <p:cNvSpPr/>
          <p:nvPr/>
        </p:nvSpPr>
        <p:spPr>
          <a:xfrm rot="5400000">
            <a:off x="467360" y="562610"/>
            <a:ext cx="330200" cy="330200"/>
          </a:xfrm>
          <a:prstGeom prst="triangle">
            <a:avLst>
              <a:gd name="adj" fmla="val 50000"/>
            </a:avLst>
          </a:prstGeom>
          <a:solidFill>
            <a:srgbClr val="BFBFBF"/>
          </a:solidFill>
        </p:spPr>
        <p:txBody>
          <a:bodyPr/>
          <a:lstStyle/>
          <a:p>
            <a:endParaRPr lang="zh-CN" altLang="en-US"/>
          </a:p>
        </p:txBody>
      </p:sp>
      <p:sp>
        <p:nvSpPr>
          <p:cNvPr id="10" name="Shape 7"/>
          <p:cNvSpPr/>
          <p:nvPr/>
        </p:nvSpPr>
        <p:spPr>
          <a:xfrm rot="5400000">
            <a:off x="594360" y="689610"/>
            <a:ext cx="330200" cy="330200"/>
          </a:xfrm>
          <a:prstGeom prst="triangle">
            <a:avLst>
              <a:gd name="adj" fmla="val 50000"/>
            </a:avLst>
          </a:prstGeom>
          <a:solidFill>
            <a:srgbClr val="000000"/>
          </a:solidFill>
        </p:spPr>
        <p:txBody>
          <a:bodyPr/>
          <a:lstStyle/>
          <a:p>
            <a:endParaRPr lang="zh-CN" altLang="en-US"/>
          </a:p>
        </p:txBody>
      </p:sp>
      <p:sp>
        <p:nvSpPr>
          <p:cNvPr id="11" name="Text 8"/>
          <p:cNvSpPr/>
          <p:nvPr/>
        </p:nvSpPr>
        <p:spPr>
          <a:xfrm>
            <a:off x="924560" y="497840"/>
            <a:ext cx="10782935" cy="516890"/>
          </a:xfrm>
          <a:prstGeom prst="rect">
            <a:avLst/>
          </a:prstGeom>
          <a:noFill/>
        </p:spPr>
        <p:txBody>
          <a:bodyPr wrap="square" lIns="91440" tIns="45720" rIns="91440" bIns="45720" rtlCol="0" anchor="t">
            <a:spAutoFit/>
          </a:bodyPr>
          <a:lstStyle/>
          <a:p>
            <a:pPr algn="just">
              <a:lnSpc>
                <a:spcPct val="100000"/>
              </a:lnSpc>
            </a:pPr>
            <a:r>
              <a:rPr lang="en-US" sz="2800" b="1" dirty="0">
                <a:solidFill>
                  <a:srgbClr val="000000"/>
                </a:solidFill>
                <a:latin typeface="MiSans" pitchFamily="34" charset="0"/>
                <a:ea typeface="MiSans" pitchFamily="34" charset="-122"/>
                <a:cs typeface="MiSans" pitchFamily="34" charset="-120"/>
              </a:rPr>
              <a:t>Testing Strategy and Evidence</a:t>
            </a:r>
            <a:endParaRPr lang="en-US" sz="1600" dirty="0"/>
          </a:p>
        </p:txBody>
      </p:sp>
      <p:sp>
        <p:nvSpPr>
          <p:cNvPr id="12" name="Text 9"/>
          <p:cNvSpPr/>
          <p:nvPr/>
        </p:nvSpPr>
        <p:spPr>
          <a:xfrm>
            <a:off x="518885" y="1594167"/>
            <a:ext cx="5593625" cy="367665"/>
          </a:xfrm>
          <a:prstGeom prst="rect">
            <a:avLst/>
          </a:prstGeom>
          <a:noFill/>
        </p:spPr>
        <p:txBody>
          <a:bodyPr wrap="square" lIns="91440" tIns="45720" rIns="91440" bIns="45720" rtlCol="0" anchor="t">
            <a:spAutoFit/>
          </a:bodyPr>
          <a:lstStyle/>
          <a:p>
            <a:pPr algn="just">
              <a:lnSpc>
                <a:spcPct val="100000"/>
              </a:lnSpc>
            </a:pPr>
            <a:r>
              <a:rPr lang="en-US" sz="1800" b="1" dirty="0">
                <a:solidFill>
                  <a:srgbClr val="FFFFFF"/>
                </a:solidFill>
                <a:latin typeface="MiSans" pitchFamily="34" charset="0"/>
                <a:ea typeface="MiSans" pitchFamily="34" charset="-122"/>
                <a:cs typeface="MiSans" pitchFamily="34" charset="-120"/>
              </a:rPr>
              <a:t>Integration Test Coverage</a:t>
            </a:r>
            <a:endParaRPr lang="en-US" sz="1600" dirty="0"/>
          </a:p>
        </p:txBody>
      </p:sp>
      <p:sp>
        <p:nvSpPr>
          <p:cNvPr id="13" name="Text 10"/>
          <p:cNvSpPr/>
          <p:nvPr/>
        </p:nvSpPr>
        <p:spPr>
          <a:xfrm>
            <a:off x="525145" y="2153602"/>
            <a:ext cx="6164580" cy="1272977"/>
          </a:xfrm>
          <a:prstGeom prst="rect">
            <a:avLst/>
          </a:prstGeom>
          <a:noFill/>
        </p:spPr>
        <p:txBody>
          <a:bodyPr wrap="square" lIns="91440" tIns="45720" rIns="91440" bIns="45720" rtlCol="0" anchor="t">
            <a:spAutoFit/>
          </a:bodyPr>
          <a:lstStyle/>
          <a:p>
            <a:pPr>
              <a:lnSpc>
                <a:spcPct val="130000"/>
              </a:lnSpc>
            </a:pPr>
            <a:r>
              <a:rPr lang="en-US" sz="1200" dirty="0">
                <a:solidFill>
                  <a:srgbClr val="2B2F36"/>
                </a:solidFill>
                <a:latin typeface="MiSans" pitchFamily="34" charset="0"/>
                <a:ea typeface="MiSans" pitchFamily="34" charset="-122"/>
                <a:cs typeface="MiSans" pitchFamily="34" charset="-120"/>
              </a:rPr>
              <a:t>The test suite encompasses six passing integration tests covering authentication flows including registration and login, protected endpoint access control verification, complete CRUD operations for all resources, validation and conflict error paths, and analytics endpoint functionality. Each test validates both successful operations and appropriate error handling.</a:t>
            </a:r>
            <a:endParaRPr lang="en-US" sz="1400" dirty="0"/>
          </a:p>
        </p:txBody>
      </p:sp>
      <p:sp>
        <p:nvSpPr>
          <p:cNvPr id="14" name="Text 11"/>
          <p:cNvSpPr/>
          <p:nvPr/>
        </p:nvSpPr>
        <p:spPr>
          <a:xfrm>
            <a:off x="518889" y="3915727"/>
            <a:ext cx="5706651" cy="367665"/>
          </a:xfrm>
          <a:prstGeom prst="rect">
            <a:avLst/>
          </a:prstGeom>
          <a:noFill/>
        </p:spPr>
        <p:txBody>
          <a:bodyPr wrap="square" lIns="91440" tIns="45720" rIns="91440" bIns="45720" rtlCol="0" anchor="t">
            <a:spAutoFit/>
          </a:bodyPr>
          <a:lstStyle/>
          <a:p>
            <a:pPr algn="just">
              <a:lnSpc>
                <a:spcPct val="100000"/>
              </a:lnSpc>
            </a:pPr>
            <a:r>
              <a:rPr lang="en-US" sz="1800" b="1" dirty="0">
                <a:solidFill>
                  <a:srgbClr val="FFFFFF"/>
                </a:solidFill>
                <a:latin typeface="MiSans" pitchFamily="34" charset="0"/>
                <a:ea typeface="MiSans" pitchFamily="34" charset="-122"/>
                <a:cs typeface="MiSans" pitchFamily="34" charset="-120"/>
              </a:rPr>
              <a:t>Response Standardization</a:t>
            </a:r>
            <a:endParaRPr lang="en-US" sz="1600" dirty="0"/>
          </a:p>
        </p:txBody>
      </p:sp>
      <p:sp>
        <p:nvSpPr>
          <p:cNvPr id="15" name="Text 12"/>
          <p:cNvSpPr/>
          <p:nvPr/>
        </p:nvSpPr>
        <p:spPr>
          <a:xfrm>
            <a:off x="525145" y="4475162"/>
            <a:ext cx="6164580" cy="1032911"/>
          </a:xfrm>
          <a:prstGeom prst="rect">
            <a:avLst/>
          </a:prstGeom>
          <a:noFill/>
        </p:spPr>
        <p:txBody>
          <a:bodyPr wrap="square" lIns="91440" tIns="45720" rIns="91440" bIns="45720" rtlCol="0" anchor="t">
            <a:spAutoFit/>
          </a:bodyPr>
          <a:lstStyle/>
          <a:p>
            <a:pPr>
              <a:lnSpc>
                <a:spcPct val="130000"/>
              </a:lnSpc>
            </a:pPr>
            <a:r>
              <a:rPr lang="en-US" sz="1200" dirty="0">
                <a:solidFill>
                  <a:srgbClr val="2B2F36"/>
                </a:solidFill>
                <a:latin typeface="MiSans" pitchFamily="34" charset="0"/>
                <a:ea typeface="MiSans" pitchFamily="34" charset="-122"/>
                <a:cs typeface="MiSans" pitchFamily="34" charset="-120"/>
              </a:rPr>
              <a:t>Standardized response envelopes ensure predictable client-side behavior across all endpoints. Success responses include consistent data wrapping, while error responses provide structured error codes and descriptive messages. This predictability simplifies client integration and debugging.</a:t>
            </a:r>
            <a:endParaRPr lang="en-US" sz="1400" dirty="0"/>
          </a:p>
        </p:txBody>
      </p:sp>
      <p:pic>
        <p:nvPicPr>
          <p:cNvPr id="17" name="图片 16"/>
          <p:cNvPicPr>
            <a:picLocks noChangeAspect="1"/>
          </p:cNvPicPr>
          <p:nvPr/>
        </p:nvPicPr>
        <p:blipFill>
          <a:blip r:embed="rId1"/>
          <a:stretch>
            <a:fillRect/>
          </a:stretch>
        </p:blipFill>
        <p:spPr>
          <a:xfrm>
            <a:off x="6771734" y="2403157"/>
            <a:ext cx="5343097" cy="2844704"/>
          </a:xfrm>
          <a:prstGeom prst="rect">
            <a:avLst/>
          </a:prstGeom>
        </p:spPr>
      </p:pic>
    </p:spTree>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Shape 0"/>
          <p:cNvSpPr/>
          <p:nvPr/>
        </p:nvSpPr>
        <p:spPr>
          <a:xfrm>
            <a:off x="0" y="6325235"/>
            <a:ext cx="12190730" cy="534035"/>
          </a:xfrm>
          <a:prstGeom prst="rect">
            <a:avLst/>
          </a:prstGeom>
          <a:solidFill>
            <a:srgbClr val="000000"/>
          </a:solidFill>
        </p:spPr>
        <p:txBody>
          <a:bodyPr/>
          <a:lstStyle/>
          <a:p>
            <a:endParaRPr lang="zh-CN" altLang="en-US"/>
          </a:p>
        </p:txBody>
      </p:sp>
      <p:sp>
        <p:nvSpPr>
          <p:cNvPr id="4" name="Shape 1"/>
          <p:cNvSpPr/>
          <p:nvPr/>
        </p:nvSpPr>
        <p:spPr>
          <a:xfrm>
            <a:off x="3830955" y="1368742"/>
            <a:ext cx="8031480" cy="3352024"/>
          </a:xfrm>
          <a:prstGeom prst="rect">
            <a:avLst/>
          </a:prstGeom>
          <a:solidFill>
            <a:srgbClr val="000000">
              <a:alpha val="0"/>
            </a:srgbClr>
          </a:solidFill>
          <a:ln w="19050">
            <a:solidFill>
              <a:srgbClr val="000000"/>
            </a:solidFill>
            <a:prstDash val="solid"/>
          </a:ln>
        </p:spPr>
        <p:txBody>
          <a:bodyPr/>
          <a:lstStyle/>
          <a:p>
            <a:endParaRPr lang="zh-CN" altLang="en-US"/>
          </a:p>
        </p:txBody>
      </p:sp>
      <p:sp>
        <p:nvSpPr>
          <p:cNvPr id="5" name="Shape 2"/>
          <p:cNvSpPr/>
          <p:nvPr/>
        </p:nvSpPr>
        <p:spPr>
          <a:xfrm>
            <a:off x="4094480" y="2375645"/>
            <a:ext cx="7560310" cy="0"/>
          </a:xfrm>
          <a:prstGeom prst="line">
            <a:avLst/>
          </a:prstGeom>
          <a:noFill/>
          <a:ln w="12700">
            <a:solidFill>
              <a:srgbClr val="000000"/>
            </a:solidFill>
            <a:prstDash val="dash"/>
            <a:headEnd type="none"/>
            <a:tailEnd type="none"/>
          </a:ln>
        </p:spPr>
        <p:txBody>
          <a:bodyPr/>
          <a:lstStyle/>
          <a:p>
            <a:endParaRPr lang="zh-CN" altLang="en-US"/>
          </a:p>
        </p:txBody>
      </p:sp>
      <p:sp>
        <p:nvSpPr>
          <p:cNvPr id="6" name="Shape 3"/>
          <p:cNvSpPr/>
          <p:nvPr/>
        </p:nvSpPr>
        <p:spPr>
          <a:xfrm>
            <a:off x="4094480" y="3458100"/>
            <a:ext cx="7560310" cy="0"/>
          </a:xfrm>
          <a:prstGeom prst="line">
            <a:avLst/>
          </a:prstGeom>
          <a:noFill/>
          <a:ln w="12700">
            <a:solidFill>
              <a:srgbClr val="000000"/>
            </a:solidFill>
            <a:prstDash val="dash"/>
            <a:headEnd type="none"/>
            <a:tailEnd type="none"/>
          </a:ln>
        </p:spPr>
        <p:txBody>
          <a:bodyPr/>
          <a:lstStyle/>
          <a:p>
            <a:endParaRPr lang="zh-CN" altLang="en-US"/>
          </a:p>
        </p:txBody>
      </p:sp>
      <p:sp>
        <p:nvSpPr>
          <p:cNvPr id="7" name="Shape 4"/>
          <p:cNvSpPr/>
          <p:nvPr/>
        </p:nvSpPr>
        <p:spPr>
          <a:xfrm rot="5400000">
            <a:off x="467360" y="562610"/>
            <a:ext cx="330200" cy="330200"/>
          </a:xfrm>
          <a:prstGeom prst="triangle">
            <a:avLst>
              <a:gd name="adj" fmla="val 50000"/>
            </a:avLst>
          </a:prstGeom>
          <a:solidFill>
            <a:srgbClr val="BFBFBF"/>
          </a:solidFill>
        </p:spPr>
        <p:txBody>
          <a:bodyPr/>
          <a:lstStyle/>
          <a:p>
            <a:endParaRPr lang="zh-CN" altLang="en-US"/>
          </a:p>
        </p:txBody>
      </p:sp>
      <p:sp>
        <p:nvSpPr>
          <p:cNvPr id="8" name="Shape 5"/>
          <p:cNvSpPr/>
          <p:nvPr/>
        </p:nvSpPr>
        <p:spPr>
          <a:xfrm rot="5400000">
            <a:off x="594360" y="689610"/>
            <a:ext cx="330200" cy="330200"/>
          </a:xfrm>
          <a:prstGeom prst="triangle">
            <a:avLst>
              <a:gd name="adj" fmla="val 50000"/>
            </a:avLst>
          </a:prstGeom>
          <a:solidFill>
            <a:srgbClr val="000000"/>
          </a:solidFill>
        </p:spPr>
        <p:txBody>
          <a:bodyPr/>
          <a:lstStyle/>
          <a:p>
            <a:endParaRPr lang="zh-CN" altLang="en-US"/>
          </a:p>
        </p:txBody>
      </p:sp>
      <p:sp>
        <p:nvSpPr>
          <p:cNvPr id="9" name="Text 6"/>
          <p:cNvSpPr/>
          <p:nvPr/>
        </p:nvSpPr>
        <p:spPr>
          <a:xfrm>
            <a:off x="924560" y="497840"/>
            <a:ext cx="10782935" cy="516890"/>
          </a:xfrm>
          <a:prstGeom prst="rect">
            <a:avLst/>
          </a:prstGeom>
          <a:noFill/>
        </p:spPr>
        <p:txBody>
          <a:bodyPr wrap="square" lIns="91440" tIns="45720" rIns="91440" bIns="45720" rtlCol="0" anchor="t">
            <a:spAutoFit/>
          </a:bodyPr>
          <a:lstStyle/>
          <a:p>
            <a:pPr>
              <a:lnSpc>
                <a:spcPct val="100000"/>
              </a:lnSpc>
            </a:pPr>
            <a:r>
              <a:rPr lang="en-US" sz="2800" b="1" dirty="0">
                <a:solidFill>
                  <a:srgbClr val="000000"/>
                </a:solidFill>
                <a:latin typeface="MiSans" pitchFamily="34" charset="0"/>
                <a:ea typeface="MiSans" pitchFamily="34" charset="-122"/>
                <a:cs typeface="MiSans" pitchFamily="34" charset="-120"/>
              </a:rPr>
              <a:t>Version Control and Documentation</a:t>
            </a:r>
            <a:endParaRPr lang="en-US" sz="1600" dirty="0"/>
          </a:p>
        </p:txBody>
      </p:sp>
      <p:sp>
        <p:nvSpPr>
          <p:cNvPr id="10" name="Text 7"/>
          <p:cNvSpPr/>
          <p:nvPr/>
        </p:nvSpPr>
        <p:spPr>
          <a:xfrm>
            <a:off x="4038600" y="1572895"/>
            <a:ext cx="7617460" cy="396240"/>
          </a:xfrm>
          <a:prstGeom prst="rect">
            <a:avLst/>
          </a:prstGeom>
          <a:noFill/>
        </p:spPr>
        <p:txBody>
          <a:bodyPr wrap="square" lIns="91440" tIns="45720" rIns="91440" bIns="45720" rtlCol="0" anchor="t">
            <a:spAutoFit/>
          </a:bodyPr>
          <a:lstStyle/>
          <a:p>
            <a:pPr>
              <a:lnSpc>
                <a:spcPct val="100000"/>
              </a:lnSpc>
            </a:pPr>
            <a:r>
              <a:rPr lang="en-US" sz="2000" b="1" dirty="0">
                <a:solidFill>
                  <a:srgbClr val="000000"/>
                </a:solidFill>
                <a:latin typeface="MiSans" pitchFamily="34" charset="0"/>
                <a:ea typeface="MiSans" pitchFamily="34" charset="-122"/>
                <a:cs typeface="MiSans" pitchFamily="34" charset="-120"/>
              </a:rPr>
              <a:t>Git Commit Practices</a:t>
            </a:r>
            <a:endParaRPr lang="en-US" sz="1600" dirty="0"/>
          </a:p>
        </p:txBody>
      </p:sp>
      <p:sp>
        <p:nvSpPr>
          <p:cNvPr id="11" name="Text 8"/>
          <p:cNvSpPr/>
          <p:nvPr/>
        </p:nvSpPr>
        <p:spPr>
          <a:xfrm>
            <a:off x="4038600" y="1941830"/>
            <a:ext cx="7616190" cy="349391"/>
          </a:xfrm>
          <a:prstGeom prst="rect">
            <a:avLst/>
          </a:prstGeom>
          <a:noFill/>
        </p:spPr>
        <p:txBody>
          <a:bodyPr wrap="square" lIns="91440" tIns="45720" rIns="91440" bIns="45720" rtlCol="0" anchor="t">
            <a:spAutoFit/>
          </a:bodyPr>
          <a:lstStyle/>
          <a:p>
            <a:pPr>
              <a:lnSpc>
                <a:spcPct val="130000"/>
              </a:lnSpc>
            </a:pPr>
            <a:r>
              <a:rPr lang="en-US" sz="1400" dirty="0">
                <a:solidFill>
                  <a:srgbClr val="2B2F36"/>
                </a:solidFill>
                <a:latin typeface="MiSans" pitchFamily="34" charset="0"/>
                <a:ea typeface="MiSans" pitchFamily="34" charset="-122"/>
                <a:cs typeface="MiSans" pitchFamily="34" charset="-120"/>
              </a:rPr>
              <a:t>Commit history shows steady development with clear commit messages.</a:t>
            </a:r>
            <a:endParaRPr lang="en-US" sz="1600" dirty="0"/>
          </a:p>
        </p:txBody>
      </p:sp>
      <p:sp>
        <p:nvSpPr>
          <p:cNvPr id="12" name="Text 9"/>
          <p:cNvSpPr/>
          <p:nvPr/>
        </p:nvSpPr>
        <p:spPr>
          <a:xfrm>
            <a:off x="4038600" y="2657149"/>
            <a:ext cx="7617460" cy="396240"/>
          </a:xfrm>
          <a:prstGeom prst="rect">
            <a:avLst/>
          </a:prstGeom>
          <a:noFill/>
        </p:spPr>
        <p:txBody>
          <a:bodyPr wrap="square" lIns="91440" tIns="45720" rIns="91440" bIns="45720" rtlCol="0" anchor="t">
            <a:spAutoFit/>
          </a:bodyPr>
          <a:lstStyle/>
          <a:p>
            <a:pPr>
              <a:lnSpc>
                <a:spcPct val="100000"/>
              </a:lnSpc>
            </a:pPr>
            <a:r>
              <a:rPr lang="en-US" sz="2000" b="1" dirty="0">
                <a:solidFill>
                  <a:srgbClr val="000000"/>
                </a:solidFill>
                <a:latin typeface="MiSans" pitchFamily="34" charset="0"/>
                <a:ea typeface="MiSans" pitchFamily="34" charset="-122"/>
                <a:cs typeface="MiSans" pitchFamily="34" charset="-120"/>
              </a:rPr>
              <a:t>Documentation Deliverables</a:t>
            </a:r>
            <a:endParaRPr lang="en-US" sz="1600" dirty="0"/>
          </a:p>
        </p:txBody>
      </p:sp>
      <p:sp>
        <p:nvSpPr>
          <p:cNvPr id="13" name="Text 10"/>
          <p:cNvSpPr/>
          <p:nvPr/>
        </p:nvSpPr>
        <p:spPr>
          <a:xfrm>
            <a:off x="4038599" y="3026084"/>
            <a:ext cx="7823835" cy="348237"/>
          </a:xfrm>
          <a:prstGeom prst="rect">
            <a:avLst/>
          </a:prstGeom>
          <a:noFill/>
        </p:spPr>
        <p:txBody>
          <a:bodyPr wrap="square" lIns="91440" tIns="45720" rIns="91440" bIns="45720" rtlCol="0" anchor="t">
            <a:spAutoFit/>
          </a:bodyPr>
          <a:lstStyle/>
          <a:p>
            <a:pPr>
              <a:lnSpc>
                <a:spcPct val="130000"/>
              </a:lnSpc>
            </a:pPr>
            <a:r>
              <a:rPr lang="en-US" sz="1400" dirty="0">
                <a:solidFill>
                  <a:srgbClr val="2B2F36"/>
                </a:solidFill>
                <a:latin typeface="MiSans" pitchFamily="34" charset="0"/>
                <a:ea typeface="MiSans" pitchFamily="34" charset="-122"/>
                <a:cs typeface="MiSans" pitchFamily="34" charset="-120"/>
              </a:rPr>
              <a:t>Documentation includes endpoint details, authentication, parameters, and response formats.</a:t>
            </a:r>
            <a:endParaRPr lang="en-US" sz="1400" dirty="0">
              <a:solidFill>
                <a:srgbClr val="2B2F36"/>
              </a:solidFill>
              <a:latin typeface="MiSans" pitchFamily="34" charset="0"/>
              <a:ea typeface="MiSans" pitchFamily="34" charset="-122"/>
              <a:cs typeface="MiSans" pitchFamily="34" charset="-120"/>
            </a:endParaRPr>
          </a:p>
        </p:txBody>
      </p:sp>
      <p:sp>
        <p:nvSpPr>
          <p:cNvPr id="14" name="Text 11"/>
          <p:cNvSpPr/>
          <p:nvPr/>
        </p:nvSpPr>
        <p:spPr>
          <a:xfrm>
            <a:off x="4094480" y="3741403"/>
            <a:ext cx="7617460" cy="396240"/>
          </a:xfrm>
          <a:prstGeom prst="rect">
            <a:avLst/>
          </a:prstGeom>
          <a:noFill/>
        </p:spPr>
        <p:txBody>
          <a:bodyPr wrap="square" lIns="91440" tIns="45720" rIns="91440" bIns="45720" rtlCol="0" anchor="t">
            <a:spAutoFit/>
          </a:bodyPr>
          <a:lstStyle/>
          <a:p>
            <a:pPr>
              <a:lnSpc>
                <a:spcPct val="100000"/>
              </a:lnSpc>
            </a:pPr>
            <a:r>
              <a:rPr lang="en-US" sz="2000" b="1" dirty="0">
                <a:solidFill>
                  <a:srgbClr val="000000"/>
                </a:solidFill>
                <a:latin typeface="MiSans" pitchFamily="34" charset="0"/>
                <a:ea typeface="MiSans" pitchFamily="34" charset="-122"/>
                <a:cs typeface="MiSans" pitchFamily="34" charset="-120"/>
              </a:rPr>
              <a:t>Repository Organization</a:t>
            </a:r>
            <a:endParaRPr lang="en-US" sz="1600" dirty="0"/>
          </a:p>
        </p:txBody>
      </p:sp>
      <p:sp>
        <p:nvSpPr>
          <p:cNvPr id="15" name="Text 12"/>
          <p:cNvSpPr/>
          <p:nvPr/>
        </p:nvSpPr>
        <p:spPr>
          <a:xfrm>
            <a:off x="4094480" y="4110338"/>
            <a:ext cx="7616190" cy="349391"/>
          </a:xfrm>
          <a:prstGeom prst="rect">
            <a:avLst/>
          </a:prstGeom>
          <a:noFill/>
        </p:spPr>
        <p:txBody>
          <a:bodyPr wrap="square" lIns="91440" tIns="45720" rIns="91440" bIns="45720" rtlCol="0" anchor="t">
            <a:spAutoFit/>
          </a:bodyPr>
          <a:lstStyle/>
          <a:p>
            <a:pPr>
              <a:lnSpc>
                <a:spcPct val="130000"/>
              </a:lnSpc>
            </a:pPr>
            <a:r>
              <a:rPr lang="en-US" sz="1400" dirty="0">
                <a:solidFill>
                  <a:srgbClr val="2B2F36"/>
                </a:solidFill>
                <a:latin typeface="MiSans" pitchFamily="34" charset="0"/>
                <a:ea typeface="MiSans" pitchFamily="34" charset="-122"/>
                <a:cs typeface="MiSans" pitchFamily="34" charset="-120"/>
              </a:rPr>
              <a:t>All deliverables are organized clearly in the public GitHub repository.</a:t>
            </a:r>
            <a:endParaRPr lang="en-US" sz="1600" dirty="0"/>
          </a:p>
        </p:txBody>
      </p:sp>
      <p:pic>
        <p:nvPicPr>
          <p:cNvPr id="16" name="图片 15"/>
          <p:cNvPicPr>
            <a:picLocks noChangeAspect="1"/>
          </p:cNvPicPr>
          <p:nvPr/>
        </p:nvPicPr>
        <p:blipFill>
          <a:blip r:embed="rId1"/>
          <a:srcRect r="48942"/>
          <a:stretch>
            <a:fillRect/>
          </a:stretch>
        </p:blipFill>
        <p:spPr>
          <a:xfrm>
            <a:off x="647700" y="1368425"/>
            <a:ext cx="2908935" cy="2672080"/>
          </a:xfrm>
          <a:prstGeom prst="rect">
            <a:avLst/>
          </a:prstGeom>
        </p:spPr>
      </p:pic>
      <p:pic>
        <p:nvPicPr>
          <p:cNvPr id="2" name="图片 1"/>
          <p:cNvPicPr>
            <a:picLocks noChangeAspect="1"/>
          </p:cNvPicPr>
          <p:nvPr/>
        </p:nvPicPr>
        <p:blipFill>
          <a:blip r:embed="rId2"/>
          <a:stretch>
            <a:fillRect/>
          </a:stretch>
        </p:blipFill>
        <p:spPr>
          <a:xfrm>
            <a:off x="647700" y="4040505"/>
            <a:ext cx="3114040" cy="2149475"/>
          </a:xfrm>
          <a:prstGeom prst="rect">
            <a:avLst/>
          </a:prstGeom>
        </p:spPr>
      </p:pic>
    </p:spTree>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Shape 1"/>
          <p:cNvSpPr/>
          <p:nvPr/>
        </p:nvSpPr>
        <p:spPr>
          <a:xfrm>
            <a:off x="861060" y="1113790"/>
            <a:ext cx="76200" cy="1215390"/>
          </a:xfrm>
          <a:prstGeom prst="roundRect">
            <a:avLst>
              <a:gd name="adj" fmla="val 50000"/>
            </a:avLst>
          </a:prstGeom>
          <a:solidFill>
            <a:srgbClr val="000000"/>
          </a:solidFill>
          <a:ln w="19050">
            <a:gradFill flip="none" rotWithShape="1">
              <a:gsLst>
                <a:gs pos="0">
                  <a:srgbClr val="000000">
                    <a:alpha val="0"/>
                  </a:srgbClr>
                </a:gs>
                <a:gs pos="15000">
                  <a:srgbClr val="000000">
                    <a:alpha val="0"/>
                  </a:srgbClr>
                </a:gs>
                <a:gs pos="90000">
                  <a:srgbClr val="000000"/>
                </a:gs>
                <a:gs pos="100000">
                  <a:srgbClr val="000000"/>
                </a:gs>
              </a:gsLst>
              <a:lin ang="10800000" scaled="1"/>
            </a:gradFill>
            <a:prstDash val="solid"/>
          </a:ln>
        </p:spPr>
        <p:txBody>
          <a:bodyPr/>
          <a:lstStyle/>
          <a:p>
            <a:endParaRPr lang="zh-CN" altLang="en-US"/>
          </a:p>
        </p:txBody>
      </p:sp>
      <p:sp>
        <p:nvSpPr>
          <p:cNvPr id="5" name="Shape 2"/>
          <p:cNvSpPr/>
          <p:nvPr/>
        </p:nvSpPr>
        <p:spPr>
          <a:xfrm>
            <a:off x="988060" y="1113790"/>
            <a:ext cx="7019925" cy="1215390"/>
          </a:xfrm>
          <a:prstGeom prst="roundRect">
            <a:avLst>
              <a:gd name="adj" fmla="val 0"/>
            </a:avLst>
          </a:prstGeom>
          <a:solidFill>
            <a:srgbClr val="FFFFFF"/>
          </a:solidFill>
          <a:ln w="28575">
            <a:gradFill flip="none" rotWithShape="1">
              <a:gsLst>
                <a:gs pos="0">
                  <a:srgbClr val="000000">
                    <a:alpha val="0"/>
                  </a:srgbClr>
                </a:gs>
                <a:gs pos="15000">
                  <a:srgbClr val="000000">
                    <a:alpha val="0"/>
                  </a:srgbClr>
                </a:gs>
                <a:gs pos="90000">
                  <a:srgbClr val="000000"/>
                </a:gs>
                <a:gs pos="100000">
                  <a:srgbClr val="000000"/>
                </a:gs>
              </a:gsLst>
              <a:lin ang="10800000" scaled="1"/>
            </a:gradFill>
            <a:prstDash val="solid"/>
          </a:ln>
        </p:spPr>
        <p:txBody>
          <a:bodyPr/>
          <a:lstStyle/>
          <a:p>
            <a:endParaRPr lang="zh-CN" altLang="en-US" dirty="0"/>
          </a:p>
        </p:txBody>
      </p:sp>
      <p:sp>
        <p:nvSpPr>
          <p:cNvPr id="6" name="Shape 3"/>
          <p:cNvSpPr/>
          <p:nvPr/>
        </p:nvSpPr>
        <p:spPr>
          <a:xfrm>
            <a:off x="861060" y="2421890"/>
            <a:ext cx="76200" cy="1215390"/>
          </a:xfrm>
          <a:prstGeom prst="roundRect">
            <a:avLst>
              <a:gd name="adj" fmla="val 50000"/>
            </a:avLst>
          </a:prstGeom>
          <a:solidFill>
            <a:srgbClr val="000000"/>
          </a:solidFill>
        </p:spPr>
        <p:txBody>
          <a:bodyPr/>
          <a:lstStyle/>
          <a:p>
            <a:endParaRPr lang="zh-CN" altLang="en-US"/>
          </a:p>
        </p:txBody>
      </p:sp>
      <p:sp>
        <p:nvSpPr>
          <p:cNvPr id="7" name="Shape 4"/>
          <p:cNvSpPr/>
          <p:nvPr/>
        </p:nvSpPr>
        <p:spPr>
          <a:xfrm>
            <a:off x="988060" y="2421890"/>
            <a:ext cx="7019925" cy="1215390"/>
          </a:xfrm>
          <a:prstGeom prst="roundRect">
            <a:avLst>
              <a:gd name="adj" fmla="val 0"/>
            </a:avLst>
          </a:prstGeom>
          <a:solidFill>
            <a:srgbClr val="FFFFFF"/>
          </a:solidFill>
          <a:ln w="28575">
            <a:gradFill flip="none" rotWithShape="1">
              <a:gsLst>
                <a:gs pos="0">
                  <a:srgbClr val="000000">
                    <a:alpha val="0"/>
                  </a:srgbClr>
                </a:gs>
                <a:gs pos="15000">
                  <a:srgbClr val="000000">
                    <a:alpha val="0"/>
                  </a:srgbClr>
                </a:gs>
                <a:gs pos="90000">
                  <a:srgbClr val="000000"/>
                </a:gs>
                <a:gs pos="100000">
                  <a:srgbClr val="000000"/>
                </a:gs>
              </a:gsLst>
              <a:lin ang="10800000" scaled="1"/>
            </a:gradFill>
            <a:prstDash val="solid"/>
          </a:ln>
        </p:spPr>
        <p:txBody>
          <a:bodyPr/>
          <a:lstStyle/>
          <a:p>
            <a:endParaRPr lang="zh-CN" altLang="en-US"/>
          </a:p>
        </p:txBody>
      </p:sp>
      <p:sp>
        <p:nvSpPr>
          <p:cNvPr id="8" name="Shape 5"/>
          <p:cNvSpPr/>
          <p:nvPr/>
        </p:nvSpPr>
        <p:spPr>
          <a:xfrm>
            <a:off x="861060" y="3729990"/>
            <a:ext cx="76200" cy="1215390"/>
          </a:xfrm>
          <a:prstGeom prst="roundRect">
            <a:avLst>
              <a:gd name="adj" fmla="val 50000"/>
            </a:avLst>
          </a:prstGeom>
          <a:solidFill>
            <a:srgbClr val="000000"/>
          </a:solidFill>
        </p:spPr>
        <p:txBody>
          <a:bodyPr/>
          <a:lstStyle/>
          <a:p>
            <a:endParaRPr lang="zh-CN" altLang="en-US"/>
          </a:p>
        </p:txBody>
      </p:sp>
      <p:sp>
        <p:nvSpPr>
          <p:cNvPr id="9" name="Shape 6"/>
          <p:cNvSpPr/>
          <p:nvPr/>
        </p:nvSpPr>
        <p:spPr>
          <a:xfrm>
            <a:off x="988060" y="3729990"/>
            <a:ext cx="7019925" cy="1215390"/>
          </a:xfrm>
          <a:prstGeom prst="roundRect">
            <a:avLst>
              <a:gd name="adj" fmla="val 0"/>
            </a:avLst>
          </a:prstGeom>
          <a:solidFill>
            <a:srgbClr val="FFFFFF"/>
          </a:solidFill>
          <a:ln w="28575">
            <a:gradFill flip="none" rotWithShape="1">
              <a:gsLst>
                <a:gs pos="0">
                  <a:srgbClr val="000000">
                    <a:alpha val="0"/>
                  </a:srgbClr>
                </a:gs>
                <a:gs pos="15000">
                  <a:srgbClr val="000000">
                    <a:alpha val="0"/>
                  </a:srgbClr>
                </a:gs>
                <a:gs pos="90000">
                  <a:srgbClr val="000000"/>
                </a:gs>
                <a:gs pos="100000">
                  <a:srgbClr val="000000"/>
                </a:gs>
              </a:gsLst>
              <a:lin ang="10680000" scaled="1"/>
            </a:gradFill>
            <a:prstDash val="solid"/>
          </a:ln>
        </p:spPr>
        <p:txBody>
          <a:bodyPr/>
          <a:lstStyle/>
          <a:p>
            <a:endParaRPr lang="zh-CN" altLang="en-US"/>
          </a:p>
        </p:txBody>
      </p:sp>
      <p:sp>
        <p:nvSpPr>
          <p:cNvPr id="10" name="Shape 7"/>
          <p:cNvSpPr/>
          <p:nvPr/>
        </p:nvSpPr>
        <p:spPr>
          <a:xfrm>
            <a:off x="861060" y="5038090"/>
            <a:ext cx="76200" cy="1215390"/>
          </a:xfrm>
          <a:prstGeom prst="roundRect">
            <a:avLst>
              <a:gd name="adj" fmla="val 50000"/>
            </a:avLst>
          </a:prstGeom>
          <a:solidFill>
            <a:srgbClr val="000000"/>
          </a:solidFill>
          <a:ln w="19050">
            <a:gradFill flip="none" rotWithShape="1">
              <a:gsLst>
                <a:gs pos="0">
                  <a:srgbClr val="000000">
                    <a:alpha val="0"/>
                  </a:srgbClr>
                </a:gs>
                <a:gs pos="15000">
                  <a:srgbClr val="000000">
                    <a:alpha val="0"/>
                  </a:srgbClr>
                </a:gs>
                <a:gs pos="100000">
                  <a:srgbClr val="000000"/>
                </a:gs>
              </a:gsLst>
              <a:lin ang="10740000" scaled="1"/>
            </a:gradFill>
            <a:prstDash val="solid"/>
          </a:ln>
        </p:spPr>
        <p:txBody>
          <a:bodyPr/>
          <a:lstStyle/>
          <a:p>
            <a:endParaRPr lang="zh-CN" altLang="en-US"/>
          </a:p>
        </p:txBody>
      </p:sp>
      <p:sp>
        <p:nvSpPr>
          <p:cNvPr id="11" name="Shape 8"/>
          <p:cNvSpPr/>
          <p:nvPr/>
        </p:nvSpPr>
        <p:spPr>
          <a:xfrm>
            <a:off x="988060" y="5038090"/>
            <a:ext cx="7019925" cy="1215390"/>
          </a:xfrm>
          <a:prstGeom prst="roundRect">
            <a:avLst>
              <a:gd name="adj" fmla="val 0"/>
            </a:avLst>
          </a:prstGeom>
          <a:solidFill>
            <a:srgbClr val="FFFFFF"/>
          </a:solidFill>
          <a:ln w="28575">
            <a:gradFill flip="none" rotWithShape="1">
              <a:gsLst>
                <a:gs pos="0">
                  <a:srgbClr val="000000">
                    <a:alpha val="0"/>
                  </a:srgbClr>
                </a:gs>
                <a:gs pos="15000">
                  <a:srgbClr val="000000">
                    <a:alpha val="0"/>
                  </a:srgbClr>
                </a:gs>
                <a:gs pos="100000">
                  <a:srgbClr val="000000"/>
                </a:gs>
              </a:gsLst>
              <a:lin ang="10740000" scaled="1"/>
            </a:gradFill>
            <a:prstDash val="solid"/>
          </a:ln>
        </p:spPr>
        <p:txBody>
          <a:bodyPr/>
          <a:lstStyle/>
          <a:p>
            <a:endParaRPr lang="zh-CN" altLang="en-US"/>
          </a:p>
        </p:txBody>
      </p:sp>
      <p:sp>
        <p:nvSpPr>
          <p:cNvPr id="12" name="Shape 9"/>
          <p:cNvSpPr/>
          <p:nvPr/>
        </p:nvSpPr>
        <p:spPr>
          <a:xfrm>
            <a:off x="422910" y="6374130"/>
            <a:ext cx="215900" cy="215900"/>
          </a:xfrm>
          <a:prstGeom prst="roundRect">
            <a:avLst>
              <a:gd name="adj" fmla="val 50000"/>
            </a:avLst>
          </a:prstGeom>
          <a:solidFill>
            <a:srgbClr val="000000"/>
          </a:solidFill>
        </p:spPr>
        <p:txBody>
          <a:bodyPr/>
          <a:lstStyle/>
          <a:p>
            <a:endParaRPr lang="zh-CN" altLang="en-US"/>
          </a:p>
        </p:txBody>
      </p:sp>
      <p:sp>
        <p:nvSpPr>
          <p:cNvPr id="13" name="Shape 10"/>
          <p:cNvSpPr/>
          <p:nvPr/>
        </p:nvSpPr>
        <p:spPr>
          <a:xfrm>
            <a:off x="549910" y="6374130"/>
            <a:ext cx="215900" cy="215900"/>
          </a:xfrm>
          <a:prstGeom prst="roundRect">
            <a:avLst>
              <a:gd name="adj" fmla="val 50000"/>
            </a:avLst>
          </a:prstGeom>
          <a:solidFill>
            <a:srgbClr val="000000">
              <a:alpha val="0"/>
            </a:srgbClr>
          </a:solidFill>
          <a:ln w="19050">
            <a:solidFill>
              <a:srgbClr val="000000"/>
            </a:solidFill>
            <a:prstDash val="solid"/>
          </a:ln>
        </p:spPr>
        <p:txBody>
          <a:bodyPr/>
          <a:lstStyle/>
          <a:p>
            <a:endParaRPr lang="zh-CN" altLang="en-US"/>
          </a:p>
        </p:txBody>
      </p:sp>
      <p:sp>
        <p:nvSpPr>
          <p:cNvPr id="16" name="Shape 13"/>
          <p:cNvSpPr/>
          <p:nvPr/>
        </p:nvSpPr>
        <p:spPr>
          <a:xfrm rot="5400000">
            <a:off x="467360" y="562610"/>
            <a:ext cx="330200" cy="330200"/>
          </a:xfrm>
          <a:prstGeom prst="triangle">
            <a:avLst>
              <a:gd name="adj" fmla="val 50000"/>
            </a:avLst>
          </a:prstGeom>
          <a:solidFill>
            <a:srgbClr val="BFBFBF"/>
          </a:solidFill>
        </p:spPr>
        <p:txBody>
          <a:bodyPr/>
          <a:lstStyle/>
          <a:p>
            <a:endParaRPr lang="zh-CN" altLang="en-US"/>
          </a:p>
        </p:txBody>
      </p:sp>
      <p:sp>
        <p:nvSpPr>
          <p:cNvPr id="17" name="Shape 14"/>
          <p:cNvSpPr/>
          <p:nvPr/>
        </p:nvSpPr>
        <p:spPr>
          <a:xfrm rot="5400000">
            <a:off x="594360" y="689610"/>
            <a:ext cx="330200" cy="330200"/>
          </a:xfrm>
          <a:prstGeom prst="triangle">
            <a:avLst>
              <a:gd name="adj" fmla="val 50000"/>
            </a:avLst>
          </a:prstGeom>
          <a:solidFill>
            <a:srgbClr val="000000"/>
          </a:solidFill>
        </p:spPr>
        <p:txBody>
          <a:bodyPr/>
          <a:lstStyle/>
          <a:p>
            <a:endParaRPr lang="zh-CN" altLang="en-US"/>
          </a:p>
        </p:txBody>
      </p:sp>
      <p:sp>
        <p:nvSpPr>
          <p:cNvPr id="18" name="Text 15"/>
          <p:cNvSpPr/>
          <p:nvPr/>
        </p:nvSpPr>
        <p:spPr>
          <a:xfrm>
            <a:off x="924560" y="497840"/>
            <a:ext cx="10782935" cy="523220"/>
          </a:xfrm>
          <a:prstGeom prst="rect">
            <a:avLst/>
          </a:prstGeom>
          <a:noFill/>
        </p:spPr>
        <p:txBody>
          <a:bodyPr wrap="square" lIns="91440" tIns="45720" rIns="91440" bIns="45720" rtlCol="0" anchor="t">
            <a:spAutoFit/>
          </a:bodyPr>
          <a:lstStyle/>
          <a:p>
            <a:r>
              <a:rPr lang="en-GB" altLang="zh-CN" sz="2800" b="1" dirty="0"/>
              <a:t>Technical Report Highlights</a:t>
            </a:r>
            <a:endParaRPr lang="en-GB" altLang="zh-CN" sz="2800" dirty="0"/>
          </a:p>
        </p:txBody>
      </p:sp>
      <p:sp>
        <p:nvSpPr>
          <p:cNvPr id="19" name="Text 16"/>
          <p:cNvSpPr/>
          <p:nvPr/>
        </p:nvSpPr>
        <p:spPr>
          <a:xfrm>
            <a:off x="1089025" y="1111250"/>
            <a:ext cx="6555740" cy="410210"/>
          </a:xfrm>
          <a:prstGeom prst="rect">
            <a:avLst/>
          </a:prstGeom>
          <a:noFill/>
        </p:spPr>
        <p:txBody>
          <a:bodyPr wrap="square" lIns="0" tIns="0" rIns="0" bIns="35941" rtlCol="0" anchor="b"/>
          <a:lstStyle/>
          <a:p>
            <a:pPr>
              <a:lnSpc>
                <a:spcPct val="100000"/>
              </a:lnSpc>
            </a:pPr>
            <a:r>
              <a:rPr lang="en-US" sz="1600" b="1" dirty="0">
                <a:solidFill>
                  <a:srgbClr val="000000"/>
                </a:solidFill>
                <a:latin typeface="MiSans" pitchFamily="34" charset="0"/>
                <a:ea typeface="MiSans" pitchFamily="34" charset="-122"/>
                <a:cs typeface="MiSans" pitchFamily="34" charset="-120"/>
              </a:rPr>
              <a:t>Architectural Choice</a:t>
            </a:r>
            <a:endParaRPr lang="en-US" sz="1600" dirty="0"/>
          </a:p>
        </p:txBody>
      </p:sp>
      <p:sp>
        <p:nvSpPr>
          <p:cNvPr id="20" name="Text 17"/>
          <p:cNvSpPr/>
          <p:nvPr/>
        </p:nvSpPr>
        <p:spPr>
          <a:xfrm>
            <a:off x="1089025" y="1521460"/>
            <a:ext cx="6555740" cy="810260"/>
          </a:xfrm>
          <a:prstGeom prst="rect">
            <a:avLst/>
          </a:prstGeom>
          <a:noFill/>
        </p:spPr>
        <p:txBody>
          <a:bodyPr wrap="square" lIns="0" tIns="0" rIns="0" bIns="0" rtlCol="0" anchor="t"/>
          <a:lstStyle/>
          <a:p>
            <a:r>
              <a:rPr lang="en-GB" altLang="zh-CN" sz="1400" dirty="0">
                <a:solidFill>
                  <a:srgbClr val="2B2F36"/>
                </a:solidFill>
                <a:latin typeface="MiSans" pitchFamily="34" charset="0"/>
                <a:ea typeface="MiSans" pitchFamily="34" charset="-122"/>
                <a:cs typeface="MiSans" pitchFamily="34" charset="-120"/>
              </a:rPr>
              <a:t>The layered architecture improves separation of concerns, testing, and maintainability.</a:t>
            </a:r>
            <a:endParaRPr lang="en-GB" altLang="zh-CN" sz="1400" dirty="0">
              <a:solidFill>
                <a:srgbClr val="2B2F36"/>
              </a:solidFill>
              <a:latin typeface="MiSans" pitchFamily="34" charset="0"/>
              <a:ea typeface="MiSans" pitchFamily="34" charset="-122"/>
              <a:cs typeface="MiSans" pitchFamily="34" charset="-120"/>
            </a:endParaRPr>
          </a:p>
        </p:txBody>
      </p:sp>
      <p:sp>
        <p:nvSpPr>
          <p:cNvPr id="21" name="Text 18"/>
          <p:cNvSpPr/>
          <p:nvPr/>
        </p:nvSpPr>
        <p:spPr>
          <a:xfrm>
            <a:off x="1089025" y="2419350"/>
            <a:ext cx="6555740" cy="410210"/>
          </a:xfrm>
          <a:prstGeom prst="rect">
            <a:avLst/>
          </a:prstGeom>
          <a:noFill/>
        </p:spPr>
        <p:txBody>
          <a:bodyPr wrap="square" lIns="0" tIns="0" rIns="0" bIns="35941" rtlCol="0" anchor="b"/>
          <a:lstStyle/>
          <a:p>
            <a:pPr>
              <a:lnSpc>
                <a:spcPct val="100000"/>
              </a:lnSpc>
            </a:pPr>
            <a:r>
              <a:rPr lang="en-US" sz="1600" b="1" dirty="0">
                <a:solidFill>
                  <a:srgbClr val="000000"/>
                </a:solidFill>
                <a:latin typeface="MiSans" pitchFamily="34" charset="0"/>
                <a:ea typeface="MiSans" pitchFamily="34" charset="-122"/>
                <a:cs typeface="MiSans" pitchFamily="34" charset="-120"/>
              </a:rPr>
              <a:t>Feature Scope</a:t>
            </a:r>
            <a:endParaRPr lang="en-US" sz="1600" dirty="0"/>
          </a:p>
        </p:txBody>
      </p:sp>
      <p:sp>
        <p:nvSpPr>
          <p:cNvPr id="22" name="Text 19"/>
          <p:cNvSpPr/>
          <p:nvPr/>
        </p:nvSpPr>
        <p:spPr>
          <a:xfrm>
            <a:off x="1089025" y="2829560"/>
            <a:ext cx="6555740" cy="810260"/>
          </a:xfrm>
          <a:prstGeom prst="rect">
            <a:avLst/>
          </a:prstGeom>
          <a:noFill/>
        </p:spPr>
        <p:txBody>
          <a:bodyPr wrap="square" lIns="0" tIns="0" rIns="0" bIns="0" rtlCol="0" anchor="t"/>
          <a:lstStyle/>
          <a:p>
            <a:pPr>
              <a:lnSpc>
                <a:spcPct val="110000"/>
              </a:lnSpc>
            </a:pPr>
            <a:r>
              <a:rPr lang="en-GB" altLang="zh-CN" sz="1400" dirty="0">
                <a:solidFill>
                  <a:srgbClr val="2B2F36"/>
                </a:solidFill>
                <a:latin typeface="MiSans" pitchFamily="34" charset="0"/>
                <a:ea typeface="MiSans" pitchFamily="34" charset="-122"/>
                <a:cs typeface="MiSans" pitchFamily="34" charset="-120"/>
              </a:rPr>
              <a:t>The API supports authentication, full CRUD operations, filtering, and analytics endpoints.</a:t>
            </a:r>
            <a:endParaRPr lang="en-GB" altLang="zh-CN" sz="1400" dirty="0">
              <a:solidFill>
                <a:srgbClr val="2B2F36"/>
              </a:solidFill>
              <a:latin typeface="MiSans" pitchFamily="34" charset="0"/>
              <a:ea typeface="MiSans" pitchFamily="34" charset="-122"/>
              <a:cs typeface="MiSans" pitchFamily="34" charset="-120"/>
            </a:endParaRPr>
          </a:p>
        </p:txBody>
      </p:sp>
      <p:sp>
        <p:nvSpPr>
          <p:cNvPr id="23" name="Text 20"/>
          <p:cNvSpPr/>
          <p:nvPr/>
        </p:nvSpPr>
        <p:spPr>
          <a:xfrm>
            <a:off x="1089025" y="3727450"/>
            <a:ext cx="6555740" cy="410210"/>
          </a:xfrm>
          <a:prstGeom prst="rect">
            <a:avLst/>
          </a:prstGeom>
          <a:noFill/>
        </p:spPr>
        <p:txBody>
          <a:bodyPr wrap="square" lIns="0" tIns="0" rIns="0" bIns="35941" rtlCol="0" anchor="b"/>
          <a:lstStyle/>
          <a:p>
            <a:pPr>
              <a:lnSpc>
                <a:spcPct val="100000"/>
              </a:lnSpc>
            </a:pPr>
            <a:r>
              <a:rPr lang="en-US" sz="1600" b="1" dirty="0">
                <a:solidFill>
                  <a:srgbClr val="000000"/>
                </a:solidFill>
                <a:latin typeface="MiSans" pitchFamily="34" charset="0"/>
                <a:ea typeface="MiSans" pitchFamily="34" charset="-122"/>
                <a:cs typeface="MiSans" pitchFamily="34" charset="-120"/>
              </a:rPr>
              <a:t>Testing Approach</a:t>
            </a:r>
            <a:endParaRPr lang="en-US" sz="1600" dirty="0"/>
          </a:p>
        </p:txBody>
      </p:sp>
      <p:sp>
        <p:nvSpPr>
          <p:cNvPr id="24" name="Text 21"/>
          <p:cNvSpPr/>
          <p:nvPr/>
        </p:nvSpPr>
        <p:spPr>
          <a:xfrm>
            <a:off x="1089025" y="4137660"/>
            <a:ext cx="6555740" cy="810260"/>
          </a:xfrm>
          <a:prstGeom prst="rect">
            <a:avLst/>
          </a:prstGeom>
          <a:noFill/>
        </p:spPr>
        <p:txBody>
          <a:bodyPr wrap="square" lIns="0" tIns="0" rIns="0" bIns="0" rtlCol="0" anchor="t"/>
          <a:lstStyle/>
          <a:p>
            <a:pPr>
              <a:lnSpc>
                <a:spcPct val="110000"/>
              </a:lnSpc>
            </a:pPr>
            <a:r>
              <a:rPr lang="en-GB" altLang="zh-CN" sz="1400" dirty="0">
                <a:solidFill>
                  <a:srgbClr val="2B2F36"/>
                </a:solidFill>
                <a:latin typeface="MiSans" pitchFamily="34" charset="0"/>
                <a:ea typeface="MiSans" pitchFamily="34" charset="-122"/>
                <a:cs typeface="MiSans" pitchFamily="34" charset="-120"/>
              </a:rPr>
              <a:t>Six integration tests validate core functionality, error handling, and response consistency.</a:t>
            </a:r>
            <a:endParaRPr lang="en-GB" altLang="zh-CN" sz="1400" dirty="0">
              <a:solidFill>
                <a:srgbClr val="2B2F36"/>
              </a:solidFill>
              <a:latin typeface="MiSans" pitchFamily="34" charset="0"/>
              <a:ea typeface="MiSans" pitchFamily="34" charset="-122"/>
              <a:cs typeface="MiSans" pitchFamily="34" charset="-120"/>
            </a:endParaRPr>
          </a:p>
        </p:txBody>
      </p:sp>
      <p:sp>
        <p:nvSpPr>
          <p:cNvPr id="25" name="Text 22"/>
          <p:cNvSpPr/>
          <p:nvPr/>
        </p:nvSpPr>
        <p:spPr>
          <a:xfrm>
            <a:off x="1089025" y="5035550"/>
            <a:ext cx="6555740" cy="410210"/>
          </a:xfrm>
          <a:prstGeom prst="rect">
            <a:avLst/>
          </a:prstGeom>
          <a:noFill/>
        </p:spPr>
        <p:txBody>
          <a:bodyPr wrap="square" lIns="0" tIns="0" rIns="0" bIns="35941" rtlCol="0" anchor="b"/>
          <a:lstStyle/>
          <a:p>
            <a:pPr>
              <a:lnSpc>
                <a:spcPct val="100000"/>
              </a:lnSpc>
            </a:pPr>
            <a:r>
              <a:rPr lang="en-US" sz="1600" b="1" dirty="0">
                <a:solidFill>
                  <a:srgbClr val="000000"/>
                </a:solidFill>
                <a:latin typeface="MiSans" pitchFamily="34" charset="0"/>
                <a:ea typeface="MiSans" pitchFamily="34" charset="-122"/>
                <a:cs typeface="MiSans" pitchFamily="34" charset="-120"/>
              </a:rPr>
              <a:t>Future Improvements</a:t>
            </a:r>
            <a:endParaRPr lang="en-US" sz="1600" dirty="0"/>
          </a:p>
        </p:txBody>
      </p:sp>
      <p:sp>
        <p:nvSpPr>
          <p:cNvPr id="26" name="Text 23"/>
          <p:cNvSpPr/>
          <p:nvPr/>
        </p:nvSpPr>
        <p:spPr>
          <a:xfrm>
            <a:off x="1089025" y="5445760"/>
            <a:ext cx="6555740" cy="810260"/>
          </a:xfrm>
          <a:prstGeom prst="rect">
            <a:avLst/>
          </a:prstGeom>
          <a:noFill/>
        </p:spPr>
        <p:txBody>
          <a:bodyPr wrap="square" lIns="0" tIns="0" rIns="0" bIns="0" rtlCol="0" anchor="t"/>
          <a:lstStyle/>
          <a:p>
            <a:pPr>
              <a:lnSpc>
                <a:spcPct val="110000"/>
              </a:lnSpc>
            </a:pPr>
            <a:r>
              <a:rPr lang="en-GB" altLang="zh-CN" sz="1400" dirty="0">
                <a:solidFill>
                  <a:srgbClr val="2B2F36"/>
                </a:solidFill>
                <a:latin typeface="MiSans" pitchFamily="34" charset="0"/>
                <a:ea typeface="MiSans" pitchFamily="34" charset="-122"/>
                <a:cs typeface="MiSans" pitchFamily="34" charset="-120"/>
              </a:rPr>
              <a:t>Possible next steps include better recommendation methods, caching, load testing, and pagination.</a:t>
            </a:r>
            <a:endParaRPr lang="en-GB" altLang="zh-CN" sz="1400" dirty="0">
              <a:solidFill>
                <a:srgbClr val="2B2F36"/>
              </a:solidFill>
              <a:latin typeface="MiSans" pitchFamily="34" charset="0"/>
              <a:ea typeface="MiSans" pitchFamily="34" charset="-122"/>
              <a:cs typeface="MiSans" pitchFamily="34" charset="-120"/>
            </a:endParaRPr>
          </a:p>
        </p:txBody>
      </p:sp>
    </p:spTree>
  </p:cSld>
  <p:clrMapOvr>
    <a:masterClrMapping/>
  </p:clrMapOvr>
  <p:transition>
    <p:fade/>
  </p:transition>
</p:sld>
</file>

<file path=ppt/theme/theme1.xml><?xml version="1.0" encoding="utf-8"?>
<a:theme xmlns:a="http://schemas.openxmlformats.org/drawingml/2006/main" name="Custom Theme">
  <a:themeElements>
    <a:clrScheme name="Custom">
      <a:dk1>
        <a:srgbClr val="000000"/>
      </a:dk1>
      <a:lt1>
        <a:srgbClr val="FFFFFF"/>
      </a:lt1>
      <a:dk2>
        <a:srgbClr val="17406D"/>
      </a:dk2>
      <a:lt2>
        <a:srgbClr val="DBEFF9"/>
      </a:lt2>
      <a:accent1>
        <a:srgbClr val="000000"/>
      </a:accent1>
      <a:accent2>
        <a:srgbClr val="FFFFFF"/>
      </a:accent2>
      <a:accent3>
        <a:srgbClr val="000000"/>
      </a:accent3>
      <a:accent4>
        <a:srgbClr val="7D7F87"/>
      </a:accent4>
      <a:accent5>
        <a:srgbClr val="FFFFFF"/>
      </a:accent5>
      <a:accent6>
        <a:srgbClr val="DCDCDC"/>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5335</Words>
  <Application>WPS 演示</Application>
  <PresentationFormat>宽屏</PresentationFormat>
  <Paragraphs>145</Paragraphs>
  <Slides>11</Slides>
  <Notes>11</Notes>
  <HiddenSlides>0</HiddenSlides>
  <MMClips>0</MMClips>
  <ScaleCrop>false</ScaleCrop>
  <HeadingPairs>
    <vt:vector size="6" baseType="variant">
      <vt:variant>
        <vt:lpstr>已用的字体</vt:lpstr>
      </vt:variant>
      <vt:variant>
        <vt:i4>17</vt:i4>
      </vt:variant>
      <vt:variant>
        <vt:lpstr>主题</vt:lpstr>
      </vt:variant>
      <vt:variant>
        <vt:i4>1</vt:i4>
      </vt:variant>
      <vt:variant>
        <vt:lpstr>幻灯片标题</vt:lpstr>
      </vt:variant>
      <vt:variant>
        <vt:i4>11</vt:i4>
      </vt:variant>
    </vt:vector>
  </HeadingPairs>
  <TitlesOfParts>
    <vt:vector size="29" baseType="lpstr">
      <vt:lpstr>Arial</vt:lpstr>
      <vt:lpstr>宋体</vt:lpstr>
      <vt:lpstr>Wingdings</vt:lpstr>
      <vt:lpstr>MiSans</vt:lpstr>
      <vt:lpstr>苹方-简</vt:lpstr>
      <vt:lpstr>MiSans</vt:lpstr>
      <vt:lpstr>MiSans</vt:lpstr>
      <vt:lpstr>Calibri</vt:lpstr>
      <vt:lpstr>Helvetica Neue</vt:lpstr>
      <vt:lpstr>微软雅黑</vt:lpstr>
      <vt:lpstr>汉仪旗黑</vt:lpstr>
      <vt:lpstr>宋体</vt:lpstr>
      <vt:lpstr>Arial Unicode MS</vt:lpstr>
      <vt:lpstr>等线</vt:lpstr>
      <vt:lpstr>汉仪中等线KW</vt:lpstr>
      <vt:lpstr>汉仪书宋二KW</vt:lpstr>
      <vt:lpstr>宋体-简</vt:lpstr>
      <vt:lpstr>Custom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Moonshot</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Book API: From Data to Insights</dc:title>
  <dc:creator>Kimi</dc:creator>
  <dc:subject>Book API: From Data to Insights</dc:subject>
  <cp:lastModifiedBy>Cat1ce</cp:lastModifiedBy>
  <cp:revision>22</cp:revision>
  <dcterms:created xsi:type="dcterms:W3CDTF">2026-04-21T13:29:08Z</dcterms:created>
  <dcterms:modified xsi:type="dcterms:W3CDTF">2026-04-21T13:29:08Z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IGC">
    <vt:lpwstr>{"Label":"Book API: From Data to Insights","ContentProducer":"001191110108MACG2KBH8F10000","ProduceID":"19dafccb-4222-8807-8000-0000243c9a3a","ReservedCode1":"","ContentPropagator":"001191110108MACG2KBH8F20000","PropagateID":"19dafccb-4222-8807-8000-0000243c9a3a","ReservedCode2":""}</vt:lpwstr>
  </property>
  <property fmtid="{D5CDD505-2E9C-101B-9397-08002B2CF9AE}" pid="3" name="ICV">
    <vt:lpwstr>16F1D2C8CFCFE10BA47BE769E2BF6598_42</vt:lpwstr>
  </property>
  <property fmtid="{D5CDD505-2E9C-101B-9397-08002B2CF9AE}" pid="4" name="KSOProductBuildVer">
    <vt:lpwstr>2052-7.5.1.8994</vt:lpwstr>
  </property>
</Properties>
</file>